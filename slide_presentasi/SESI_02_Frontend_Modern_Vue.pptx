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1_paradigma_imperatif_vs_deklaratif.html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2_sistem_reaktivitas_ref.html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3_reaktivitas_objek_reactive.html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4_text_interpolation_v_bind.html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5_two_way_binding_v_model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6_conditional_v_if_vs_v_show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7_list_rendering_v_for_dan_key.html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8_event_handling_dan_modifiers.html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09_computed_properties_ips.html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0_watchers_dan_side_effects.html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1_lifecycle_hooks_onmounted.html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2_komposisi_komponen_sfc.htm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3_props_aliran_data_induk_anak.html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4_emits_komunikasi_anak_ke_induk.html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5_slots_proyeksi_konten_fleksibel.html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6_state_reusable_composables.html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7_lab_quest_02_krs_interaktif.html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ntonprafanto/tuweb_mobile2025/blob/main/contoh_kode_program/sesi_02_vue_frontend/slide_18_preview_sesi_03_typescript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530352"/>
            <a:ext cx="10545775" cy="5897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457200"/>
            <a:ext cx="10545775" cy="589788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94360"/>
            <a:ext cx="999713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000000"/>
                </a:solidFill>
                <a:latin typeface="Segoe UI"/>
              </a:defRPr>
            </a:pPr>
            <a:r>
              <a:t>✦ STSI4303 • PEMROGRAMAN BERBASIS PERANGKAT BERGERAK • SESI 02 ✦</a:t>
            </a:r>
          </a:p>
          <a:p>
            <a:pPr>
              <a:spcAft>
                <a:spcPts val="400"/>
              </a:spcAft>
              <a:defRPr sz="2300" b="1">
                <a:solidFill>
                  <a:srgbClr val="000000"/>
                </a:solidFill>
                <a:latin typeface="Segoe UI"/>
              </a:defRPr>
            </a:pPr>
            <a:r>
              <a:t>REKAYASA FRONTEND MODERN BERBASIS VUE.JS 3</a:t>
            </a:r>
          </a:p>
          <a:p>
            <a:pPr>
              <a:defRPr sz="1100">
                <a:solidFill>
                  <a:srgbClr val="464646"/>
                </a:solidFill>
                <a:latin typeface="Segoe UI"/>
              </a:defRPr>
            </a:pPr>
            <a:r>
              <a:t>Mata Kuliah: Pemrograman Berbasis Perangkat Bergerak (STSI4303 / MSIM4401)</a:t>
            </a:r>
            <a:br/>
            <a:r>
              <a:t>Modul Acuan BMP: Modul 2 • Reaktivitas, Direktif Template, Lifecycle, &amp; Modular Components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057400"/>
            <a:ext cx="4864608" cy="2468880"/>
          </a:xfrm>
          <a:prstGeom prst="rect">
            <a:avLst/>
          </a:prstGeom>
          <a:solidFill>
            <a:srgbClr val="FEF2F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B91C1C"/>
                </a:solidFill>
                <a:latin typeface="Segoe UI"/>
              </a:defRPr>
            </a:pPr>
            <a:r>
              <a:t>❌ PARADIGMA IMPERATIF (VANILLA JS)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Fokus pada HOW (Bagaimana):</a:t>
            </a:r>
            <a:r>
              <a:rPr sz="950">
                <a:solidFill>
                  <a:srgbClr val="323232"/>
                </a:solidFill>
                <a:latin typeface="Segoe UI"/>
              </a:rPr>
              <a:t> Menginstruksikan langkah demi langkah manipulasi elemen DOM.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Manual DOM querying:</a:t>
            </a:r>
            <a:r>
              <a:rPr sz="950">
                <a:solidFill>
                  <a:srgbClr val="323232"/>
                </a:solidFill>
                <a:latin typeface="Segoe UI"/>
              </a:rPr>
              <a:t> Berulang kali memanggil getElementById, querySelector, &amp; innerHTML.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Rawan Desinkronisasi:</a:t>
            </a:r>
            <a:r>
              <a:rPr sz="950">
                <a:solidFill>
                  <a:srgbClr val="323232"/>
                </a:solidFill>
                <a:latin typeface="Segoe UI"/>
              </a:rPr>
              <a:t> Status variabel di memori sering tidak sinkron dengan tampilan layar.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Spaghetti Code:</a:t>
            </a:r>
            <a:r>
              <a:rPr sz="950">
                <a:solidFill>
                  <a:srgbClr val="323232"/>
                </a:solidFill>
                <a:latin typeface="Segoe UI"/>
              </a:rPr>
              <a:t> Semakin besar aplikasi, kode semakin rumit dan sulit dirawat.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216" y="2130552"/>
            <a:ext cx="4864608" cy="24688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27064" y="2057400"/>
            <a:ext cx="4864608" cy="246888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9944" y="2194560"/>
            <a:ext cx="4498848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5803D"/>
                </a:solidFill>
                <a:latin typeface="Segoe UI"/>
              </a:defRPr>
            </a:pPr>
            <a:r>
              <a:t>✅ PARADIGMA DEKLARATIF (VUE.JS 3)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Fokus pada WHAT (Apa):</a:t>
            </a:r>
            <a:r>
              <a:rPr sz="950">
                <a:solidFill>
                  <a:srgbClr val="323232"/>
                </a:solidFill>
                <a:latin typeface="Segoe UI"/>
              </a:rPr>
              <a:t> Mendeklarasikan data dan template; Vue mengurus sinkronisasi DOM.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Reaktivitas Otomatis:</a:t>
            </a:r>
            <a:r>
              <a:rPr sz="950">
                <a:solidFill>
                  <a:srgbClr val="323232"/>
                </a:solidFill>
                <a:latin typeface="Segoe UI"/>
              </a:rPr>
              <a:t> Mengubah nilai state di JavaScript langsung memutakhirkan tampilan.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Virtual DOM Diffing:</a:t>
            </a:r>
            <a:r>
              <a:rPr sz="950">
                <a:solidFill>
                  <a:srgbClr val="323232"/>
                </a:solidFill>
                <a:latin typeface="Segoe UI"/>
              </a:rPr>
              <a:t> Hanya node yang nilainya berubah yang di-render ulang (efisien &amp; cepat).</a:t>
            </a:r>
          </a:p>
          <a:p>
            <a:pPr>
              <a:spcAft>
                <a:spcPts val="400"/>
              </a:spcAft>
            </a:pPr>
            <a:r>
              <a:rPr sz="950" b="1">
                <a:solidFill>
                  <a:srgbClr val="000000"/>
                </a:solidFill>
                <a:latin typeface="Segoe UI"/>
              </a:rPr>
              <a:t>• Komponen Modular:</a:t>
            </a:r>
            <a:r>
              <a:rPr sz="950">
                <a:solidFill>
                  <a:srgbClr val="323232"/>
                </a:solidFill>
                <a:latin typeface="Segoe UI"/>
              </a:rPr>
              <a:t> Kode terstruktur rapi, terisolasi, dan mudah diuji (unit-testable).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45152"/>
            <a:ext cx="999713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0000"/>
                </a:solidFill>
                <a:latin typeface="Segoe UI"/>
              </a:defRPr>
            </a:pPr>
            <a:r>
              <a:t>■  Anton Prafanto, S.Kom., M.T.  ■  FAKULTAS SAINS DAN TEKNOLOGI • UNIVERSITAS TERBUKA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33856" y="5065776"/>
            <a:ext cx="9997135" cy="640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>
            <a:hlinkClick r:id="rId2"/>
          </p:cNvPr>
          <p:cNvSpPr/>
          <p:nvPr/>
        </p:nvSpPr>
        <p:spPr>
          <a:xfrm>
            <a:off x="1097280" y="5029200"/>
            <a:ext cx="9997135" cy="640080"/>
          </a:xfrm>
          <a:prstGeom prst="rect">
            <a:avLst/>
          </a:prstGeom>
          <a:solidFill>
            <a:srgbClr val="FFE600"/>
          </a:solidFill>
          <a:ln w="254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65776"/>
            <a:ext cx="981425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000000"/>
                </a:solidFill>
                <a:latin typeface="Segoe UI"/>
                <a:hlinkClick r:id="rId2"/>
              </a:rPr>
              <a:t>▶ BUKA FILE INTERAKTIF: PARADIGMA IMPERATIF VS DEKLARATIF (slide_01_paradigma_imperatif_vs_deklaratif.html)</a:t>
            </a:r>
          </a:p>
          <a:p>
            <a:pPr>
              <a:defRPr sz="800">
                <a:solidFill>
                  <a:srgbClr val="3C3C3C"/>
                </a:solidFill>
                <a:latin typeface="Segoe UI"/>
              </a:defRPr>
            </a:pPr>
            <a:r>
              <a:t>💡 Klik ganda berkas HTML untuk simulasi perbandingan Spaghetti DOM vs Virtual DOM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7490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749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02 • REAKTIVITAS DASAR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Sistem Reaktivitas Primitif: ref() dan Unboxing .value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ref() membungkus tipe data primitif (Number, String, Boolean).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Vue membungkusnya dalam objek kontainer ber-getter &amp; setter.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Akses di JavaScript: Wajib menyertakan .value (misal: sks.value++).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Akses di Template: Otomatis di-unwrap, cukup panggil {{ sks }}.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Paling cocok untuk state tunggal seperti counter, toggle boolean, dan input text.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Jangan menulis totalSks++ di dalam script, karena akan menimpa objek ref menjadi angka biasa!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slide_02_sistem_reaktivitas_ref.html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1. Inisialisasi state primitif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ref(18);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isAktif = ref(true);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2. Mutasi data di dalam JavaScript (Wajib .value)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tambahSks()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if (totalSks.value &lt; 24)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totalSks.value += 3;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3. Template HTML otomatis unwrap (Tanpa .value!):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&lt;p&gt;Total: {{ totalSks }} SKS&lt;/p&gt;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&lt;button @click="tambahSks"&gt;Tambah SKS&lt;/button&gt;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(slide_02_sistem_reaktivitas_ref.html)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063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063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03 • OBJEK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Reaktivitas Objek Majemuk: reactive() &amp; JavaScript Proxy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reactive() digunakan untuk membungkus objek majemuk atau array.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Didukung oleh fitur native JavaScript ES6 Proxy secara mendalam (deep reactivity).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Keunggulan: Tidak perlu menulis .value sama sekali di JavaScript!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Langsung mutasi properti objek: mahasiswa.semester++.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Peringatan: Jangan melakukan destructuring langsung (gunakan toRefs).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ref() untuk tipe data primitif dan reactive() untuk struktur objek entitas.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slide_03_reaktivitas_objek_reactive.html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reactive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Membungkus satu entitas objek utuh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mhs = reactive({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nim: '043123456',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'Siti Aminah',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prodi: 'Sistem Informasi',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semester: 4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Akses langsung tanpa .value!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naikSemester()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mhs.semester++;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Template: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&lt;h3&gt;{{ mhs.nama }} (NIM: {{ mhs.nim }})&lt;/h3&gt;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(slide_03_reaktivitas_objek_reactive.html)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04 • DIREKTIF ATRIBUT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Text Interpolation {{ }} &amp; Pengikatan Atribut Dinamis (v-bind)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Kumis ganda {{ }} hanya untuk menyisipkan teks di dalam elemen HTML.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v-bind digunakan untuk mengikat data JavaScript ke atribut HTML (class, id, src, disabled).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Shorthand v-bind: Cukup gunakan tanda titik dua (:). Contoh :src, :class.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Dynamic Class Binding mendukung sintaks objek: { 'lunas': isBayar }.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Dynamic Style Binding mendukung manipulasi CSS inline yang reaktif.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Shorthand titik dua (:) adalah standar industri masa kini, hindari menulis v-bind: yang panjang.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slide_04_text_interpolation_v_bind.html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&lt;!-- 1. Text Interpolation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&lt;h1&gt;Halo, {{ namaMahasiswa }}&lt;/h1&gt;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&lt;!-- 2. Atribut Dinamis (Shorthand : )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&lt;button :disabled="isFormInvalid"&gt;Kirim&lt;/button&gt;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&lt;!-- 3. Class Binding Berbasis Kondisi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:class="{ 'kartu-aktif': statusAktif, 'kartu-cuti': !statusAktif }"&gt;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 Mahasiswa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&lt;!-- 4. Style Binding Dinamis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:style="{ color: skorIpk &gt;= 3.0 ? 'green' : 'red' }"&gt;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IPK: {{ skorIpk }}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(slide_04_text_interpolation_v_bind.html)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291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291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05 • FORM DUA ARAH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Pengikatan Data Dua Arah (v-model) &amp; Input Modifiers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v-model mengotomatiskan sinkronisasi input formulir dengan state JavaScript.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 balik layar, v-model adalah sintaksis gula dari :value + @input.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.trim: Menghapus spasi liar di awal/akhir teks otomatis.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.number: Mengonversi input teks menjadi tipe data Number valid.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.lazy: Sinkronisasi hanya terjadi saat input kehilangan fokus (blur).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selalu v-model.trim pada kolom NIM dan Username untuk mencegah bug spasi tak terlihat.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slide_05_two_way_binding_v_model.html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Inisialisasi State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nama = ref('');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usia = ref(20);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prodi = ref('SI');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Template Formulir Dua Arah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&lt;input type="text" v-model.trim="nama" placeholder="Nama"&gt;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&lt;input type="number" v-model.number="usia"&gt;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&lt;select v-model="prodi"&gt;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&lt;option value="SI"&gt;Sistem Informasi&lt;/option&gt;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&lt;option value="IF"&gt;Informatika&lt;/option&gt;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&lt;/select&gt;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Tampilan Real-Time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&lt;p&gt;Halo {{ nama }}, usia {{ usia }} tahun (Prodi: {{ prodi }})&lt;/p&gt;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(slide_05_two_way_binding_v_model.html)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06 • KINERJA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Conditional Rendering: v-if (Bongkar Pasang DOM) vs v-show (CSS Toggle)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DIREKTIF V-IF (BONGKAR PASANG DOM)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Benar-benar menghancurkan atau membuat ulang node elemen di DOM.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Initial Render Cost rendah: Jika kondisi False di awal, elemen tidak pernah dibuat.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Toggle Cost tinggi: Sangat boros daya CPU ponsel jika sering bolak-balik hidup-mati.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Mendukung rantai kondisional: v-else-if dan v-else.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Gunakan untuk: Dialog Modal, Layar Login/Logout, atau izin akses pengguna (Permissions).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DIREKTIF V-SHOW (CSS DISPLAY TOGGLE)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Elemen SELALU dirender dan tetap ada di pohon DOM ponsel.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Hanya menyembunyikan tampilan lewat atribut CSS: style='display: none;'.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Initial Render Cost tinggi: Semua elemen langsung dimasukkan ke memori peramban.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Toggle Cost SANGAT RENDAH: Sangat hemat CPU dan baterai smartphone.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Gunakan untuk: Tab navigasi mobile, Accordion FAQ, atau Toggle Dropdown yang sering diklik.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(slide_06_conditional_v_if_vs_v_show.html)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07 • RENDER KOLEKSI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List Rendering (v-for) &amp; Urgensi Atribut :key Unik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v-for digunakan untuk merender daftar array data menjadi elemen UI.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Sintaks umum: v-for='(item, index) in daftar' :key='item.id'.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HUKUM WAJIB: Selalu sertakan :key dengan pengenal unik (ID permanen).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JANGAN gunakan index iterasi sebagai :key jika daftar bisa dihapus/diurutkan.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Key unik memandu algoritma Virtual DOM Diffing agar tidak salah merender form/animasi.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Jika menggunakan index sebagai :key, mencentang checkbox lalu menghapus baris akan membuat centang berpindah ke baris lain!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slide_07_list_rendering_v_for_dan_key.html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daftarMk = ref([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'MK-101', nama: 'Pemrograman Bergerak',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'MK-102', nama: 'Basis Data', sks: 3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id: 'MK-103', nama: 'Rekayasa Perangkat Lunak', sks: 3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PERINGATAN: SELALU PAKAI :key UNIK!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&lt;ul&gt;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&lt;li v-for="mk in daftarMk" :key="mk.id"&gt;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&lt;strong&gt;{{ mk.nama }}&lt;/strong&gt; ({{ mk.sks }} SKS)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&lt;button @click="hapusMk(mk.id)"&gt;Hapus&lt;/button&gt;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&lt;/li&gt;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&lt;/ul&gt;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(slide_07_list_rendering_v_for_dan_key.html)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08 • INTERAKSI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Penanganan Event (@event) &amp; Event Modifiers (.prevent, .stop)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Direktif v-on disingkat menggunakan simbol @ (contoh: @click, @submit).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.prevent: Menggantikan e.preventDefault(), mencegah reload halaman saat submit.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.stop: Menggantikan e.stopPropagation(), mencegah bubbling ke elemen induk.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Modifier Tombol: @keyup.enter hanya bereaksi ketika pengguna menekan tombol Enter.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Membuat kode interaksi mobile sangat ringkas, bersih, dan deklaratif.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Di aplikasi mobile, @submit.prevent adalah penyelamat utama agar aplikasi tidak reload layar putih.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slide_08_event_handling_dan_modifiers.html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Handler Fungsi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handleSubmit()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console.log('Form diproses via AJAX tanpa reload browser!');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handleCardClick()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console.log('Kartu diklik!');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handleLike()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console.log('Tombol like diklik saja!');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Mencegah reload form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&lt;form @submit.prevent="handleSubmit"&gt;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&lt;input type="text" @keyup.enter="handleSubmit"&gt;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&lt;button type="submit"&gt;Simpan&lt;/button&gt;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&lt;/form&gt;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Mencegah klik tombol tembus ke kartu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&lt;div class="card" @click="handleCardClick"&gt;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&lt;button @click.stop="handleLike"&gt;❤️ Suka&lt;/button&gt;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&lt;/div&gt;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(slide_08_event_handling_dan_modifiers.html)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09 • KINERJA CACHING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Properti Terkalkulasi (computed) &amp; Efisiensi Caching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computed() menghasilkan nilai baru dari kalkulasi data reaktif lain.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Fitur Unggulan Caching: Hasil hitungan disimpan di memori cache.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Hanya dihitung ulang JIKA data dependensinya berubah. Sangat hemat CPU!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Perbedaan vs Methods: Methods dihitung ulang SETIAP KALI ada render ulang layar.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Wajib bersifat murni (getter pure function), dilarang memicu mutasi atau efek samping.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computed() untuk seluruh logika kalkulasi nilai, filter katalog, dan validasi formulir.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slide_09_computed_properties_ips.html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computed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nilaiMk = ref([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nama: 'Mobile', sks: 3, bobot: 4.0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{ nama: 'Basis Data', sks: 3, bobot: 3.5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Computed Property Otomatis Ter-Cache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ips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console.log('Kalkulasi IPS dijalankan!');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totalBobot = nilaiMk.value.reduce((acc, m) =&gt; acc + (m.bobot * m.sks),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totalSks = nilaiMk.value.reduce((acc, m) =&gt; acc + m.sks, 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(totalBobot / totalSks).toFixed(2);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Di Template: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&lt;h2&gt;IPS Mahasiswa: {{ ips }}&lt;/h2&gt;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(slide_09_computed_properties_ips.html)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10 • EFEK SAMPING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Pemantau Data (watch) &amp; Efek Samping (Side Effects)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watch() digunakan untuk memantau perubahan data dan menjalankan efek samping asinkron.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Kapan dipakai? Saat data berubah dan kita perlu: panggil REST API, simpan ke storage, dsb.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Menyediakan dua parameter: (nilaiBaru, nilaiLama).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Opsi { deep: true } untuk memantau mutasi properti di dalam objek bersarang.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Teknik Debouncing: Menunda eksekusi penyimpanan ke disk ponsel agar baterai awet.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Gunakan computed untuk kalkulasi nilai tampilan, gunakan watch untuk urusan I/O, API, dan Storage.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slide_10_watchers_dan_side_effects.html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watch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draftCatatan = ref(localStorage.getItem('catatan') || '');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statusSimpan = ref('Tersimpan');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Pantau perubahan teks dan simpan ke LocalStorage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watch(draftCatatan, (baru, lama)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statusSimpan.value = 'Menyimpan...';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// Simulasi auto-save dengan debouncing 500ms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setTimeout(()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localStorage.setItem('catatan', baru);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statusSimpan.value = 'Tersimpan otomatis!';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500);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(slide_10_watchers_dan_side_effects.html)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1775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1775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11 • SIKLUS HIDUP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Siklus Hidup Komponen: onMounted, onUpdated, &amp; onUnmounted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memiliki fase siklus hidup: Dibuat -&gt; Ditampilkan -&gt; Diperbarui -&gt; Dihancurkan.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setup(): Dipanggil pertama kali saat komponen diinisialisasi.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onMounted(): Elemen DOM sudah terpasang di layar ponsel. Tempat aman memanggil API/Sensor.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onUpdated(): Dipanggil setelah ada perubahan data yang me-render ulang DOM.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onUnmounted(): Wajib membersihkan timer (clearInterval) atau listener agar tidak bocor RAM!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Selalu pasangkan addEventListener di onMounted dengan removeEventListener di onUnmounted!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slide_11_lifecycle_hooks_onmounted.html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onMounted, onUnmounted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waktu = ref(0);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let timerId = null;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onMounted(()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console.log('Layar aktif! Memulai interval timer...');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timerId = setInterval(()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waktu.value++;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}, 1000);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onUnmounted(()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console.log('Layar ditutup! Membersihkan timer agar RAM aman.');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clearInterval(timerId); // Wajib cegah memory leak!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(slide_11_lifecycle_hooks_onmounted.html)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4061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4061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12 • ARSITEKTUR SFC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Anatomi Single File Component (SFC .vue): Template, Script, Style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05840" y="1828800"/>
            <a:ext cx="2966313" cy="411480"/>
          </a:xfrm>
          <a:prstGeom prst="rect">
            <a:avLst/>
          </a:prstGeom>
          <a:solidFill>
            <a:srgbClr val="38BDF8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1. &lt;TEMPLATE&gt;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Struktur Tampilan HTML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Mendefinisikan hierarki elemen visual antarmuka pengguna.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Mendukung direktif reaktif Vue: v-if, v-for, :bind, @click.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Mendukung slot proyeksi konten fleksibel.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Diterjemahkan menjadi fungsi Virtual DOM render yang sangat cepat.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02505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9353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2233" y="1828800"/>
            <a:ext cx="2966313" cy="41148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2233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2. &lt;SCRIPT SETUP&gt;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2233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Logika Composition API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Standar sintaks Vue 3 paling modern, ringkas, dan performan.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Semua variabel dan fungsi di level atas otomatis tersedia di template.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Dukungan kelas satu untuk integrasi TypeScript murni.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Tempat mendefinisikan ref, reactive, computed, dan composables.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08898" y="1719072"/>
            <a:ext cx="3332073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35746" y="1645920"/>
            <a:ext cx="3332073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8626" y="1828800"/>
            <a:ext cx="2966313" cy="41148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8626" y="1828800"/>
            <a:ext cx="2966313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000000"/>
                </a:solidFill>
                <a:latin typeface="Segoe UI"/>
              </a:defRPr>
            </a:pPr>
            <a:r>
              <a:t>3. &lt;STYLE SCOPED&gt;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8626" y="2377440"/>
            <a:ext cx="2966313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0000"/>
                </a:solidFill>
                <a:latin typeface="Segoe UI"/>
              </a:defRPr>
            </a:pPr>
            <a:r>
              <a:t>Gaya CSS Terisolasi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Atribut 'scoped' mengunci CSS hanya untuk komponen ini saja.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Vue menambahkan atribut hash unik otomatis (misal: data-v-7a7a37b0).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Gaya CSS tidak akan pernah bocor atau merusak komponen lain.</a:t>
            </a:r>
          </a:p>
          <a:p>
            <a:pPr>
              <a:spcAft>
                <a:spcPts val="400"/>
              </a:spcAft>
              <a:defRPr sz="950">
                <a:solidFill>
                  <a:srgbClr val="1E1E1E"/>
                </a:solidFill>
                <a:latin typeface="Segoe UI"/>
              </a:defRPr>
            </a:pPr>
            <a:r>
              <a:t>•  Sangat esensial untuk skala aplikasi mobile dengan ratusan layar.</a:t>
            </a:r>
          </a:p>
        </p:txBody>
      </p:sp>
      <p:sp>
        <p:nvSpPr>
          <p:cNvPr id="22" name="Rectangle 21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(slide_12_komposisi_komponen_sfc.html)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0919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0919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13 • ALUR DATA INDUK-ANAK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Komunikasi Komponen: Aliran Data Satu Arah via Props (Parent → Child)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dirancang untuk dapat digunakan berulang kali (reusable).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mengirimkan data ke komponen anak menggunakan atribut Props.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Aturan Emas One-Way Data Flow: Data mengalir tegas HANYA dari atas ke bawah.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anak DILARANG mengubah props secara langsung (bersifat read-only/imutabel).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Menjaga Single Source of Truth sehingga alur data aplikasi mudah dilacak dan didebug.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Jika anak ingin mengubah data props, kirimkan sinyal event ke atas menggunakan emit()!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slide_13_props_aliran_data_induk_anak.html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ANAK: KartuDosen.vue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defineProps({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nama: { type: String, required: true },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nidn: String,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rating: { type: Number, default: 5.0 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class="card"&gt;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&lt;h3&gt;{{ nama }} (NIDN: {{ nidn }})&lt;/h3&gt;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&lt;span&gt;⭐ {{ rating.toFixed(1) }}&lt;/span&gt;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INDUK: DaftarDosen.vue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&lt;kartu-dosen :nama="item.nama" :nidn="item.nidn" :rating="item.rating" /&gt;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(slide_13_props_aliran_data_induk_anak.html)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2062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14 • KOMUNIKASI ANAK-INDUK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Komunikasi Komponen Anak ke Induk: Custom Events via emit()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Filosofi Arsitektur Komponen: 'Props Down, Events Up'.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anak memancarkan sinyal event ke induk menggunakan fungsi emit().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Anak dapat menyertakan data (payload) bersama sinyal yang dikirimkan.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mendengarkan sinyal tersebut menggunakan listener @nama-event.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Menjaga kopling longgar (loose coupling) antar komponen agar modular.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Selalu deklarasikan daftar event di defineEmits(['...']) agar autocompletion editor aktif.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slide_14_emits_komunikasi_anak_ke_induk.html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ANAK: ItemKeranjang.vue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&lt;script setup&gt;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emit = defineEmits(['hapus-item', 'tambah-qty']);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function tombolHapusDiklik(id)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emit('hapus-item', id); // Kirim sinyal + ID ke induk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&lt;/script&gt;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&lt;span&gt;{{ item.nama }}&lt;/span&gt;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&lt;button @click="tombolHapusDiklik(item.id)"&gt;🗑️ Hapus&lt;/button&gt;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INDUK: KeranjangBelanja.vue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&lt;item-keranjang @hapus-item="handleHapusItem" /&gt;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(slide_14_emits_komunikasi_anak_ke_induk.html)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5204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520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15 • PROYEKSI KONTEN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Proyeksi Konten Fleksibel: Default Slot &amp; Named Slots (&lt;slot&gt;)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Menyematkan elemen HTML atau komponen lain ke kerangka modal/kartu secara dinamis.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Default Slot (&lt;slot /&gt;) untuk wadah konten tubuh utama tanpa nama khusus.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Named Slots (&lt;slot name='header'&gt;) untuk pembagian area visual yang spesifik.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Komponen induk menyuntikkan template dengan sintaks ringkas &lt;template #header&gt;.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Sangat krusial untuk membuat reusable modal dialog, kartu menu, dan layout mobile.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Slot memisahkan bingkai tampilan (shell) dari isi konten (fill), memungkinkan 1 komponen dipakai ribuan konteks.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slide_15_slots_proyeksi_konten_fleksibel.html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WADAH: DialogModal.vue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&lt;div class="modal-box"&gt;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&lt;header&gt;&lt;slot name="header"&gt;Judul Default&lt;/slot&gt;&lt;/header&gt;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&lt;main&gt;&lt;slot /&gt;&lt;/main&gt; &lt;!-- Default Slot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&lt;footer&gt;&lt;slot name="footer" /&gt;&lt;/footer&gt;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&lt;/div&gt;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&lt;!-- KOMPONEN INDUK PENGGUNA --&gt;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&lt;dialog-modal&gt;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&lt;template #header&gt;⚠️ Peringatan Akademik&lt;/template&gt;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&lt;p&gt;Apakah Anda yakin akan mengunggah berkas Tugas 1?&lt;/p&gt;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&lt;template #footer&gt;&lt;button&gt;Ya, Kirim&lt;/button&gt;&lt;/template&gt;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&lt;/dialog-modal&gt;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(slide_15_slots_proyeksi_konten_fleksibel.html)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863339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8633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16 • CLEAN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State Management Ringan: Pola Custom Composables (useKRSManager)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Composable adalah fungsi yang memanfaatkan Composition API untuk mengelola logika stateful.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Konvensi penamaan standar industri: Selalu diawali kata 'use' (misal: useKRSManager).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Pemisahan Tanggung Jawab (Separation of Concerns): Memisahkan logika bisnis dari UI.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Bebas 100% dari elemen DOM: Sangat mudah dilakukan unit testing secara terisolasi.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Dapat digunakan lintas komponen tanpa duplikasi sebaris kode pun.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Composables adalah pengganti modern dari Mixins di Vue 2 yang dahulu rawan konflik penamaan variabel.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slide_16_state_reusable_composables.html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Berkas: useKRSManager.js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import { ref, computed } from 'vue';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export function useKRSManager()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krs = ref([]);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totalSks = computed(() =&gt; krs.value.reduce((s, i) =&gt; s + i.sks, 0));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isPenuh = computed(() =&gt; totalSks.value &gt;= 24);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ambilMk = (mk)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if (totalSks.value + mk.sks &lt;= 24) krs.value.push(mk);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const lepasMk = (id)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krs.value = krs.value.filter(i =&gt; i.id !== id);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{ krs, totalSks, isPenuh, ambilMk, lepasMk };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(slide_16_state_reusable_composables.html)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44348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4434840" cy="365760"/>
          </a:xfrm>
          <a:prstGeom prst="rect">
            <a:avLst/>
          </a:prstGeom>
          <a:solidFill>
            <a:srgbClr val="FFE60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4434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17 • MASTER SOLUSI LAB QUEST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Aplikasi Manajemen KRS Mandiri Mahasiswa FST UT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4389120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389120" cy="466344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182880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Studi kasus terpadu: Sistem Informasi Akademik mini berbasis Vue 3 mandiri.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Filter &amp; Pencarian Real-Time: Input teks + filter semester berbasis computed().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Dua Kolom Interaktif: Katalog pilihan mata kuliah vs Daftar KRS yang diambil.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Validasi Beban Kuota SKS: Menghitung akumulasi SKS dan menonaktifkan tombol jika kuota penuh.</a:t>
            </a:r>
          </a:p>
          <a:p>
            <a:pPr>
              <a:spcAft>
                <a:spcPts val="1000"/>
              </a:spcAft>
              <a:defRPr sz="1100">
                <a:latin typeface="Segoe UI"/>
              </a:defRPr>
            </a:pPr>
            <a:r>
              <a:t>■  Pengesahan Digital: Tombol ajukan KRS dengan validasi kelayakan pengisian.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4892040"/>
            <a:ext cx="3931920" cy="123444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937760"/>
            <a:ext cx="384048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00000"/>
                </a:solidFill>
                <a:latin typeface="Segoe UI"/>
              </a:defRPr>
            </a:pPr>
            <a:r>
              <a:t>💡 TIPS PRAKTIKUM:</a:t>
            </a:r>
            <a:br/>
            <a:r>
              <a:t>Studi kasus ini adalah miniatur arsitektur yang akan kita bawa saat merakit antarmuka mobile Ionic di Sesi 04.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59552" y="1719072"/>
            <a:ext cx="5882335" cy="46634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0" y="1645920"/>
            <a:ext cx="5882335" cy="4663440"/>
          </a:xfrm>
          <a:prstGeom prst="rect">
            <a:avLst/>
          </a:prstGeom>
          <a:solidFill>
            <a:srgbClr val="121212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645920"/>
            <a:ext cx="5882335" cy="411480"/>
          </a:xfrm>
          <a:prstGeom prst="rect">
            <a:avLst/>
          </a:prstGeom>
          <a:solidFill>
            <a:srgbClr val="232323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691640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C8C8C8"/>
                </a:solidFill>
                <a:latin typeface="Consolas"/>
              </a:defRPr>
            </a:pPr>
            <a:r>
              <a:t>📄 slide_17_lab_quest_02_krs_interaktif.html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5740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Arsitektur Reaktif Lab Quest 02: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mahasiswa = reactive({ nim: '043889977', ipk: 3.65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maxSks = computed(() =&gt; mahasiswa.ipk &gt;= 3.0 ? 24 : 20);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krs = ref([]);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totalSks = computed(() =&gt; krs.value.reduce((acc, m) =&gt; acc + m.sks, 0));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sisaSks = computed(() =&gt; maxSks.value - totalSks.value);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// Filter Katalog Dinamis 0 milidetik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const hasilFilterKatalog = computed(()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return katalog.value.filter(mk =&gt; {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cocokNama = mk.nama.toLowerCase().includes(pencarian.value.toLowerCase());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const cocokSem = filterSemester.value === '0' || mk.semester.toString() === filterSemester.value;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  return cocokNama &amp;&amp; cocokSem;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  });</a:t>
            </a:r>
          </a:p>
          <a:p>
            <a:pPr>
              <a:defRPr sz="900">
                <a:solidFill>
                  <a:srgbClr val="F5F5F5"/>
                </a:solidFill>
                <a:latin typeface="Consolas"/>
              </a:defRPr>
            </a:pPr>
            <a:r>
              <a:t>});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0" y="5806440"/>
            <a:ext cx="54864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KODE LENGKAP (slide_17_lab_quest_02_krs_interaktif.html)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96112" y="438912"/>
            <a:ext cx="3634740" cy="36576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solidFill>
            <a:srgbClr val="C084FC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65760"/>
            <a:ext cx="36347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SLIDE 18 • JEMBATAN SESI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04672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Segoe UI"/>
              </a:defRPr>
            </a:pPr>
            <a:r>
              <a:t>Mengapa Vue 3 Butuh TypeScript? Bahaya Bug Runtime vs Proteksi Interface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solidFill>
            <a:srgbClr val="FB7185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JAVASCRIPT MURNI (DYNAMIC TYPING)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Tipe data diperiksa saat aplikasi dijalankan di smartphone pengguna (runtime).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Bencana Typo Properti: mhs.skorIpk menghasilkan undefined tanpa peringatan editor!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Silent Failure: undefined * 25 menghasilkan NaN (Not a Number) dan crash logika.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Tidak ada dokumentasi kontrak parameter fungsi di editor VS Code.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Beresiko tinggi saat basis kode dikembangkan oleh banyak programmer.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21247" y="1719072"/>
            <a:ext cx="5120640" cy="41605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8095" y="1645920"/>
            <a:ext cx="5120640" cy="4160520"/>
          </a:xfrm>
          <a:prstGeom prst="rect">
            <a:avLst/>
          </a:prstGeom>
          <a:solidFill>
            <a:srgbClr val="FFFFFF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solidFill>
            <a:srgbClr val="4ADE80"/>
          </a:solidFill>
          <a:ln w="317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6695" y="1874519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0000"/>
                </a:solidFill>
                <a:latin typeface="Segoe UI"/>
              </a:defRPr>
            </a:pPr>
            <a:r>
              <a:t>TYPESCRIPT + VUE 3 (STATIC CONTRACT)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695" y="242316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Tipe data diperiksa saat kita mengetik kode di VS Code (compile-time).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Proteksi Interface: Salah ketik satu huruf langsung diberi garis bawah merah!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Autocompletion Cerdas: Editor otomatis merekomendasikan nama properti objek.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Refactoring Aman: Mengubah nama kolom otomatis memperbarui seluruh komponen.</a:t>
            </a:r>
          </a:p>
          <a:p>
            <a:pPr>
              <a:spcAft>
                <a:spcPts val="600"/>
              </a:spcAft>
              <a:defRPr sz="1050">
                <a:latin typeface="Segoe UI"/>
              </a:defRPr>
            </a:pPr>
            <a:r>
              <a:t>■  Persiapan menyambut Sesi 03 &amp; TUGAS TUTORIAL 1 (Kalkulator Nilai UT).</a:t>
            </a:r>
          </a:p>
        </p:txBody>
      </p:sp>
      <p:sp>
        <p:nvSpPr>
          <p:cNvPr id="17" name="Rectangle 16">
            <a:hlinkClick r:id="rId2"/>
          </p:cNvPr>
          <p:cNvSpPr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solidFill>
            <a:srgbClr val="FFE600"/>
          </a:solidFill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943600"/>
            <a:ext cx="10545775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00000"/>
                </a:solidFill>
                <a:latin typeface="Segoe UI"/>
                <a:hlinkClick r:id="rId2"/>
              </a:rPr>
              <a:t>▶ KLIK UNTUK MEMBUKA FILE INTERAKTIF LENGKAP (slide_18_preview_sesi_03_typescript.html)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