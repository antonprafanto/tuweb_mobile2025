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4_ionic_dasar_navigasi/slide_01_pengenalan_ekosistem_ionic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4_ionic_dasar_navigasi/slide_02_adaptive_styling_md_ios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4_ionic_dasar_navigasi/slide_03_anatomi_halaman_ion_page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4_ionic_dasar_navigasi/slide_04_palet_warna_tema_mobile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4_ionic_dasar_navigasi/slide_05_variasi_tombol_ion_button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4_ionic_dasar_navigasi/slide_06_kartu_informasi_ion_card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4_ionic_dasar_navigasi/slide_07_avatar_badge_dan_chip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4_ionic_dasar_navigasi/slide_08_daftar_list_dan_item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4_ionic_dasar_navigasi/slide_09_ikonografi_ionicons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4_ionic_dasar_navigasi/slide_10_filosofi_stack_navigation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4_ionic_dasar_navigasi/slide_11_struktur_ionic_vue_router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4_ionic_dasar_navigasi/slide_12_pindah_halaman_dan_parameter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4_ionic_dasar_navigasi/slide_13_tombol_kembali_back_button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4_ionic_dasar_navigasi/slide_14_siklus_hidup_masuk_halaman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4_ionic_dasar_navigasi/slide_15_siklus_hidup_keluar_halaman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4_ionic_dasar_navigasi/slide_16_troubleshooting_routing_ionic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4_ionic_dasar_navigasi/slide_17_lab_quest_04_portal_modul_ut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4_ionic_dasar_navigasi/slide_18_preview_sesi_05_layout_grid_form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530352"/>
            <a:ext cx="10545775" cy="58978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57200"/>
            <a:ext cx="10545775" cy="58978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594360"/>
            <a:ext cx="999713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0000"/>
                </a:solidFill>
                <a:latin typeface="Segoe UI"/>
              </a:defRPr>
            </a:pPr>
            <a:r>
              <a:t>✦ STSI4303 • PEMROGRAMAN BERBASIS PERANGKAT BERGERAK • SESI 04 ✦</a:t>
            </a:r>
          </a:p>
          <a:p>
            <a:pPr>
              <a:spcAft>
                <a:spcPts val="400"/>
              </a:spcAft>
              <a:defRPr sz="2200" b="1">
                <a:solidFill>
                  <a:srgbClr val="000000"/>
                </a:solidFill>
                <a:latin typeface="Segoe UI"/>
              </a:defRPr>
            </a:pPr>
            <a:r>
              <a:t>DASAR-DASAR IONIC FRAMEWORK &amp; NAVIGASI HALAMAN MOBILE</a:t>
            </a:r>
          </a:p>
          <a:p>
            <a:pPr>
              <a:defRPr sz="1050">
                <a:solidFill>
                  <a:srgbClr val="464646"/>
                </a:solidFill>
                <a:latin typeface="Segoe UI"/>
              </a:defRPr>
            </a:pPr>
            <a:r>
              <a:t>Mata Kuliah: Pemrograman Berbasis Perangkat Bergerak (STSI4303 / MSIM4401)</a:t>
            </a:r>
            <a:br/>
            <a:r>
              <a:t>Modul Acuan BMP: Modul 4 • Ekosistem UI Toolkit, Adaptive Styling, Stack Navigation, &amp; Master Solusi Lab Quest 04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2130552"/>
            <a:ext cx="4864608" cy="24688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057400"/>
            <a:ext cx="4864608" cy="2468880"/>
          </a:xfrm>
          <a:prstGeom prst="rect">
            <a:avLst/>
          </a:prstGeom>
          <a:solidFill>
            <a:srgbClr val="F5F3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194560"/>
            <a:ext cx="449884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581C87"/>
                </a:solidFill>
                <a:latin typeface="Segoe UI"/>
              </a:defRPr>
            </a:pPr>
            <a:r>
              <a:t>🎯 PETA KURIKULUM &amp; TARGET CAPAIAN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Transisi Pemrograman Web ke Rekayasa Mobile Multiplatform.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Integrasi Ekosistem Ionic Framework di atas pondasi Vue 3.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Standar Anatomi Layout Baku: ion-app, ion-page, &amp; ion-content.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Persiapan Menuju Sesi 05 &amp; Asesmen Resmi TUGAS TUTORIAL 2 (20%).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2959" y="2130552"/>
            <a:ext cx="4864608" cy="24688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9807" y="2057400"/>
            <a:ext cx="4864608" cy="2468880"/>
          </a:xfrm>
          <a:prstGeom prst="rect">
            <a:avLst/>
          </a:prstGeom>
          <a:solidFill>
            <a:srgbClr val="FEF3C7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2687" y="2194560"/>
            <a:ext cx="449884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92400E"/>
                </a:solidFill>
                <a:latin typeface="Segoe UI"/>
              </a:defRPr>
            </a:pPr>
            <a:r>
              <a:t>📱 FOKUS SESI 04: KOMPONEN UI &amp; STACK ROUTING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Adaptive Styling: Material Design (Android) vs Cupertino (iOS).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Ragam Komponen: Button, Card, Avatar, Badge, Chip, List, Ionicons.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Filosofi Stack Navigation (LIFO) &amp; Outlet &lt;ion-router-outlet&gt;.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■  Lifecycle Hooks: ionViewWillEnter &amp; ionViewWillLeave (0 Memory Leak).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3856" y="4745736"/>
            <a:ext cx="9997135" cy="62179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>
            <a:hlinkClick r:id="rId2"/>
          </p:cNvPr>
          <p:cNvSpPr/>
          <p:nvPr/>
        </p:nvSpPr>
        <p:spPr>
          <a:xfrm>
            <a:off x="1097280" y="4709160"/>
            <a:ext cx="9997135" cy="621792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745736"/>
            <a:ext cx="98142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0000"/>
                </a:solidFill>
                <a:latin typeface="Segoe UI"/>
              </a:defRPr>
            </a:pPr>
            <a:r>
              <a:t>▶ KLIK DI SINI UNTUK MEMBUKA BERKAS INTERAKTIF PENGENALAN EKOSISTEM IONIC (slide_01_pengenalan_ekosistem_ionic.html)</a:t>
            </a:r>
          </a:p>
          <a:p>
            <a:pPr>
              <a:defRPr sz="850">
                <a:solidFill>
                  <a:srgbClr val="3C3C3C"/>
                </a:solidFill>
                <a:latin typeface="Segoe UI"/>
              </a:defRPr>
            </a:pPr>
            <a:r>
              <a:t>■ Anton Prafanto, S.Kom., M.T. ■ FAKULTAS SAINS DAN TEKNOLOGI • UNIVERSITAS TERBUKA • EKSEKUSI LANGSUNG DI GOOGLE CHROME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634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02 • ADAPTIVE STYLING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Adaptive Styling: Material Design (Android) vs Cupertino (iOS)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MATERIAL DESIGN (MODE ANDROID: 'MD')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Efek sentuh Ripple Effect (ombak beriak air) khas Android.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Posisi judul Toolbar berada di sisi kiri layar.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Bayangan elevasi kotak tegas dan tajam (Card shadow).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Tipografi default menggunakan font keluarga Roboto.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Ikon tajam dengan akhiran nama '-sharp'.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CUPERTINO (MODE IPHONE: 'IOS')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695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Transisi geser horizontal halus dengan efek transparansi.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Posisi judul Toolbar berada persis di tengah simetris.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Efek blur tembus pandang (frosted glass) pada header.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Tipografi default menggunakan font Apple San Francisco.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Ikon garis tipis elegan dengan akhiran '-outline'.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822960" y="598932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98932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(slide_02_adaptive_styling_md_ios.html)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406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03 • ANATOMI LAYOUT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Hierarki Baku Halaman Mobile: ion-app, ion-page, &amp; ion-content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ARSITEKTUR MOBILE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&lt;ion-app&gt;: Pembungkus tunggal seluruh aplikasi di App.vue.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&lt;ion-page&gt;: Pembungkus mutlak setiap berkas tampilan layar (View).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&lt;ion-header&gt; &amp; &lt;ion-toolbar&gt;: Wadah resmi judul &amp; tombol aksi atas.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&lt;ion-content&gt;: Wadah isi aplikasi dengan akselerasi hardware scroll.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Pantangan: Jangan mengganti ion-page dengan tag &lt;div&gt; biasa!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Selalu tambahkan class='ion-padding' pada ion-content agar teks tidak menempel di tepi layar ponsel!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slide_03_anatomi_halaman_ion_page.html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&lt;template&gt;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&lt;ion-page&gt;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&lt;ion-header&gt;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&lt;ion-toolbar color="primary"&gt;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&lt;ion-title&gt;Portal BMP Universitas Terbuka&lt;/ion-title&gt;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&lt;/ion-toolbar&gt;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&lt;/ion-header&gt;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&lt;ion-content class="ion-padding"&gt;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&lt;!-- Konten Berjalan di Sini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&lt;h2&gt;Selamat Datang Mahasiswa!&lt;/h2&gt;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&lt;/ion-content&gt;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&lt;/ion-page&gt;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&lt;/template&gt;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(slide_03_anatomi_halaman_ion_page.html)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04 • PALET WARNA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Sistem Pewarnaan Semantik Resmi Ionic UI Toolkit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ARSITEKTUR MOBILE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Ionic mengelola tema visual melalui variabel warna CSS terpadu.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Warna Utama: 'primary' (biru branding), 'secondary', 'tertiary'.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Warna Status: 'success' (hijau), 'warning' (kuning), 'danger' (merah).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Warna Netral: 'light' (latar terang), 'medium' (abu-abu), 'dark'.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Diterapkan langsung via atribut: color='primary'.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color='success' untuk feedback positif dan color='danger' untuk aksi destruktif.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slide_04_palet_warna_tema_mobile.html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Penerapan Warna Semantik pada Komponen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&lt;ion-button color="primary"&gt;Tombol Utama&lt;/ion-button&gt;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&lt;ion-button color="success"&gt;KRS Terverifikasi&lt;/ion-button&gt;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&lt;ion-button color="danger"&gt;Batalkan Matakuliah&lt;/ion-button&gt;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Badge &amp; Icon dengan Warna Senada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&lt;ion-badge color="warning"&gt;Masa Sanggah Nilai&lt;/ion-badge&gt;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&lt;ion-icon name="alert-circle" color="danger"&gt;&lt;/ion-icon&gt;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(slide_04_palet_warna_tema_mobile.html)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291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05 • TOMBOL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Ragam Konfigurasi Tombol: expand, fill, shape, &amp; size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ARSITEKTUR MOBILE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expand='block': Tombol membentang penuh dengan margin kiri-kanan.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expand='full': Tombol membentang penuh tanpa margin (menempel tepi).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fill='solid' (default), fill='outline' (bergaris tepi), fill='clear'.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shape='round': Memberikan lengkungan sudut membulat gaya pil modern.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size='small | default | large': Menyesuaikan ukuran jempol sentuh.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expand='block' untuk tombol aksi utama di layar sentuh ponsel!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slide_05_variasi_tombol_ion_button.html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&lt;!-- 1. Tombol Utama Lebar Penuh (Thumb-Friendly)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&lt;ion-button expand="block" color="primary"&gt;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Masuk Portal Mahasiswa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&lt;/ion-button&gt;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&lt;!-- 2. Tombol Sekunder Outline Membulat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&lt;ion-button expand="block" fill="outline" shape="round" color="dark"&gt;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Unduh Berkas Tutorial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&lt;/ion-button&gt;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(slide_05_variasi_tombol_ion_button.html)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06 • KARTU INFORMASI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Penyajian Informasi Ringkas: Struktur Anatomi ion-card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ARSITEKTUR MOBILE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&lt;ion-card&gt;: Kontainer pembungkus dengan elevasi bayangan modern.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&lt;ion-card-header&gt;: Area judul dengan subtitle sebagai kategori.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&lt;ion-card-subtitle&gt;: Teks kecil huruf kapital untuk identitas topik.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&lt;ion-card-title&gt;: Judul utama pengumuman atau modul ajar.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&lt;ion-card-content&gt;: Isi uraian ringkas dan tombol aksi pelengkap.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kombinasi subtitle dan title untuk meningkatkan hierarki keterbacaan di layar kecil.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slide_06_kartu_informasi_ion_card.html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&lt;ion-card&gt;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&lt;ion-card-header&gt;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&lt;ion-card-subtitle&gt;PENGUMUMAN AKADEMIK UT&lt;/ion-card-subtitle&gt;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&lt;ion-card-title&gt;Batas Unggah Tugas Tutorial 1&lt;/ion-card-title&gt;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&lt;/ion-card-header&gt;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&lt;ion-card-content&gt;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Batas pengumpulan adalah 2 pekan sejak sesi dibuka.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Sertakan tautan video YouTube Unlisted demonstrasi aplikasi.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&lt;/ion-card-content&gt;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&lt;/ion-card&gt;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(slide_06_kartu_informasi_ion_card.html)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634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07 • INDIKATOR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Elemen Identitas Visual Ringkas: ion-avatar, ion-badge, &amp; ion-chip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ARSITEKTUR MOBILE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&lt;ion-avatar&gt;: Wadah foto profil yang otomatis ter-crop bundar sempurna.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&lt;ion-badge&gt;: Kapsul penanda angka status atau jumlah pesan unread.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&lt;ion-chip&gt;: Tag tombol interaktif untuk kategori dan filter data.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Meningkatkan keterlibatan visual (*visual affordance*) bagi pengguna.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Dapat memuat teks bersama ikon resmi Ionicons.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ion-chip untuk filter cepat kategori mata kuliah di bagian atas katalog.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slide_07_avatar_badge_dan_chip.html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Foto Profil Bundar &amp; Badge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&lt;ion-avatar&gt;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&lt;img src="foto_mahasiswa.png" alt="Profil" /&gt;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&lt;/ion-avatar&gt;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&lt;ion-badge color="success"&gt;Aktif 2026.1&lt;/ion-badge&gt;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&lt;ion-badge color="danger"&gt;3 Pesan Baru&lt;/ion-badge&gt;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Tag Filter Interaktif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&lt;ion-chip :outline="!terpilih" @click="toggle"&gt;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&lt;ion-icon name="checkmark-circle"&gt;&lt;/ion-icon&gt;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&lt;ion-label&gt;Sistem Informasi&lt;/ion-label&gt;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&lt;/ion-chip&gt;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(slide_07_avatar_badge_dan_chip.html)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406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08 • DAFTAR KOLEKSI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Pengelolaan Informasi Kolektif: ion-list &amp; Arsitektur Slot ion-item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ARSITEKTUR MOBILE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&lt;ion-list lines='full | inset | none'&gt;: Wadah daftar item bergaris pemisah.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&lt;ion-item button&gt;: Baris dengan efek ripple sentuh interaktif.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slot='start': Area kiri khusus ikon, thumbnail, atau avatar.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Area Tengah: &lt;ion-label&gt; dengan &lt;h2&gt; judul dan &lt;p&gt; deskripsi.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slot='end': Area kanan untuk tanggal, note status, atau chevron panah.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slot='start' dan slot='end' agar tata letak baris tetap simetris di semua perangkat.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slide_08_daftar_list_dan_item.html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&lt;ion-list lines="inset"&gt;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&lt;ion-item button @click="pilihMK(mk)"&gt;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&lt;ion-avatar slot="start"&gt;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&lt;div class="sks-badge"&gt;{{ mk.sks }} SKS&lt;/div&gt;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&lt;/ion-avatar&gt;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&lt;ion-label&gt;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&lt;h2&gt;{{ mk.nama }}&lt;/h2&gt;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&lt;p&gt;Kode: {{ mk.kode }} • 9 Modul&lt;/p&gt;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&lt;/ion-label&gt;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&lt;ion-note slot="end" color="success"&gt;Aktif&lt;/ion-note&gt;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&lt;/ion-item&gt;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&lt;/ion-list&gt;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(slide_08_daftar_list_dan_item.html)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9489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9489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9489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09 • IKONOGRAFI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Bahasa Visual Antarmuka Mobile: Koleksi Resmi Ionicons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ARSITEKTUR MOBILE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Ionicons adalah pustaka ikon vektor SVG resmi open-source dari tim Ionic.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Sintaks komponen: &lt;ion-icon name='book-outline'&gt;&lt;/ion-icon&gt;.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3 Ragam Varian: Default (solid/tebal), '-outline' (elegan), '-sharp' (Android).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Kualitas vektor tajam di seluruh kerapatan layar smartphone (HDPI/Retina).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Ukuran &amp; warna otomatis mewarisi style teks (currentColor) atau atribut color.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varian -outline untuk menu tab belum aktif dan versi solid untuk tab aktif.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slide_09_ikonografi_ionicons.html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Ragam Gaya Ikon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&lt;ion-icon name="book-outline" size="large" color="primary"&gt;&lt;/ion-icon&gt;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&lt;ion-icon name="checkmark-circle" color="success"&gt;&lt;/ion-icon&gt;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&lt;ion-icon name="cloud-download-outline"&gt;&lt;/ion-icon&gt;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Kustomisasi Ukuran CSS Bebas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&lt;ion-icon name="school" style="font-size: 40px; color: #0284C7;"&gt;&lt;/ion-icon&gt;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(slide_09_ikonografi_ionicons.html)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7490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749039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10 • FILOSOFI NAVIGASI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Filosofi Stack Navigation: Mengapa Mobile Berbeda dengan Web Biasa?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SITUS WEB DESKTOP BIASA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Perilaku Destruktif: Halaman lama dimusnahkan (unmounted) saat pindah URL.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Posisi scroll hilang: Saat kembali, posisi baca ter-reset ke puncak paling atas.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State formulir terhapus jika belum disimpan ke LocalStorage.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Hard reload / kedip putih saat berpindah antar berkas HTML.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Boros kuota data seluler karena memanggil ulang aset DOM.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IONIC MOBILE STACK (LIFO)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695" y="246888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Perilaku Aditif: Layar baru ditumpuk (Push) di atas layar lama.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Layar lama tetap hidup dan ter-cache di memori smartphone.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Posisi scroll utuh persis seperti saat ditinggalkan saat menekan Back (Pop).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Animasi geser hardware-accelerated sehalus aplikasi native.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t>■  Hemat kuota: Data katalog tidak perlu di-fetch ulang dari server!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822960" y="598932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98932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(slide_10_filosofi_stack_navigation.html)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11 • SISTEM PERUTEAN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Konfigurasi Perutean: @ionic/vue-router &amp; &lt;ion-router-outlet&gt;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ARSITEKTUR MOBILE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Gunakan 'createRouter' dan 'createWebHistory' dari package @ionic/vue-router.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Di App.vue: Ganti &lt;router-view&gt; dengan &lt;ion-router-outlet /&gt;!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&lt;ion-router-outlet&gt; bertindak sebagai pengatur tumpukan dan transisi animasi.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Jika memakai &lt;router-view&gt;, tombol back dan cache stack tidak akan berfungsi.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Mendukung route redirect: { path: '/', redirect: '/katalog' }.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Wajib bungkus &lt;ion-router-outlet /&gt; di dalam &lt;ion-app&gt; pada template App.vue!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slide_11_struktur_ionic_vue_router.html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1. router/index.ts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createRouter, createWebHistory } from '@ionic/vue-router';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RouteRecordRaw } from 'vue-router';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routes: Array&lt;RouteRecordRaw&gt; = [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{ path: '/', redirect: '/katalog' },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{ path: '/katalog', component: () =&gt; import('@/views/KatalogPage.vue') },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{ path: '/modul/:kode', component: () =&gt; import('@/views/DetailPage.vue')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];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export const router = createRouter({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history: createWebHistory(),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routes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(slide_11_struktur_ionic_vue_router.html)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634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12 • NAVIGASI DINAMIS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Transisi Antar Layar: useRouter() &amp; Pengiriman Parameter (:kode)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ARSITEKTUR MOBILE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Halaman Asal: Gunakan useRouter() untuk memanggil router.push('/modul/' + kode).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Rute Dinamis: Daftarkan parameter URL bertanda titik dua di router (/modul/:kode).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Halaman Tujuan: Gunakan useRoute() untuk membaca route.params.kode.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Satu berkas tampilan detail dapat melayani ribuan mata kuliah secara dinamis.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Gunakan computed() untuk membaca parameter secara reaktif.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Selalu lakukan type casting (as string) saat membaca route.params di TypeScript.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slide_12_pindah_halaman_dan_parameter.html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Halaman Pengirim (KatalogPage.vue)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useRouter } from 'vue-router';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router = useRouter();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bukaDetail = (kode: string)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router.push(`/modul/${kode}`);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Halaman Penerima (DetailPage.vue)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useRoute } from 'vue-router';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route = useRoute();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kodeMK = route.params.kode as string;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(slide_12_pindah_halaman_dan_parameter.html)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406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13 • TOMBOL KEMBALI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Navigasi Alami Ponsel: &lt;ion-back-button&gt; &amp; Fallback default-href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ARSITEKTUR MOBILE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&lt;ion-back-button&gt;: Komponen panah mundur otomatis pada toolbar.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Ditempatkan di dalam &lt;ion-buttons slot='start'&gt; pada &lt;ion-toolbar&gt;.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Otomatis tersembunyi jika pengguna sedang berada di halaman akar (Root).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Kewajiban default-href: Penyelamat saat aplikasi dibuka dari direct link.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Tanpa default-href, pengguna yang merefresh browser (F5) akan terjebak!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Selalu isi default-href='/home' pada setiap tombol kembali tanpa kecuali!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slide_13_tombol_kembali_back_button.html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&lt;ion-header&gt;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&lt;ion-toolbar color="primary"&gt;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&lt;!-- Tombol Kembali Alami di Slot Kiri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&lt;ion-buttons slot="start"&gt;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&lt;ion-back-button 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default-href="/katalog" 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text="Kembali"&gt;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&lt;/ion-back-button&gt;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&lt;/ion-buttons&gt;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&lt;ion-title&gt;Rincian Modul BMP&lt;/ion-title&gt;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&lt;/ion-toolbar&gt;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&lt;/ion-header&gt;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(slide_13_tombol_kembali_back_button.html)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8633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863339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8633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14 • SIKLUS HIDUP MASUK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Siklus Hidup Masuk: onIonViewWillEnter vs onMounted() Vue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ARSITEKTUR MOBILE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Jebakan onMounted(): Hanya berjalan 1x saat DOM pertama dibuat.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Saat kembali dari layar lain, onMounted() TIDAK AKAN PERNAH BERJALAN LAGI!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onIonViewWillEnter(): Terpanggil SETIAP KALI halaman akan tampil di layar.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Waktu terbaik untuk memuat ulang (refresh) data KRS atau notifikasi terbaru.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onIonViewDidEnter(): Terpanggil tepat setelah animasi transisi geser selesai.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Pindahkan seluruh logika fetch data dari onMounted ke onIonViewWillEnter!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slide_14_siklus_hidup_masuk_halaman.html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onIonViewWillEnter, onIonViewDidEnter } from '@ionic/vue';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Terpanggil SETIAP KALI layar dikunjungi (bahkan saat kembali)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onIonViewWillEnter(()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console.log('🔄 Memuat ulang data modul terbaru dari server...');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fetchModulData();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onIonViewDidEnter(()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console.log('✨ Animasi layar selesai, UI siap menerima interaksi.');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(slide_14_siklus_hidup_masuk_halaman.html)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9776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977639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9776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15 • SIKLUS HIDUP KELUAR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Siklus Hidup Keluar: Mencegah Kebocoran Memori &amp; Menghemat Baterai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ARSITEKTUR MOBILE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onUnmounted() tidak terpanggil saat halaman ditumpuk (*stacked*).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Timer setInterval dan WebSocket akan terus aktif membakar baterai ponsel!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onIonViewWillLeave(): Momen wajib mematikan timer &amp; menjeda audio/video.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onIonViewDidLeave(): Terpanggil setelah halaman sepenuhnya di latar belakang.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Penting untuk aplikasi ujian online atau pemantau lokasi GPS mahasiswa.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Pastikan membersihkan event listener manual di onIonViewWillLeave.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slide_15_siklus_hidup_keluar_halaman.html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onIonViewWillLeave, onIonViewDidEnter } from '@ionic/vue';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let timerId: number | null = null;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onIonViewDidEnter(()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timerId = window.setInterval(() =&gt; { cekGPS(); }, 3000);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Wajib matikan proses saat pengguna berpindah layar!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onIonViewWillLeave(()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if (timerId)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clearInterval(timerId);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console.log('🛑 Timer dimatikan, memori dan baterai aman!');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(slide_15_siklus_hidup_keluar_halaman.html)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16 • TROUBLESHOOTING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Diagnosis Cepat &amp; Pemecahan Galat Umum Perutean Ionic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ARSITEKTUR MOBILE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Layar Putih Kosong: Lupa membungkus template dengan &lt;ion-page&gt;.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Tombol Back Hilang: Lupa default-href atau menggunakan &lt;router-view&gt;.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Komponen Tampil Polos: Belum mengimpor bundle CSS resmi Ionic di main.ts.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Data Tidak Update Saat Back: Meletakkan fetch di onMounted alih-alih onIonViewWillEnter.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Aplikasi Kedip/Reload: Menggunakan window.location alih-alih router.push().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Buka DevTools Chrome Console (F12) untuk melihat pesan peringatan resmi Ionic.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slide_16_troubleshooting_routing_ionic.html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Matriks Solusi Cepat Galat Mahasiswa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1. Pastikan Hirarki: &lt;ion-app&gt; -&gt; &lt;ion-page&gt; -&gt; &lt;ion-content&gt;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2. Gunakan: import '@ionic/vue/css/core.css' di main.ts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3. Gunakan: &lt;ion-router-outlet /&gt; di App.vue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4. Gunakan: &lt;ion-back-button default-href="/home"&gt;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5. Gunakan: onIonViewWillEnter() untuk update data reaktif!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(slide_16_troubleshooting_routing_ionic.html)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291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17 • MASTER SOLUSI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🎯 Master Solusi Lab Quest 04: Portal Modul BMP UT Multi-Halaman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ARSITEKTUR MOBILE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Integrasi penuh arsitektur mobile hybrid multi-halaman dalam simulator ponsel.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Halaman 1: Katalog Buku Materi Pokok (BMP) dengan filter semester &amp; bookmark.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Halaman 2: Rincian Kegiatan Belajar (KB) dengan parameter dinamis &amp; back button.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Terminal Pemantau Lifecycle: Mencatat WillEnter &amp; WillLeave secara real-time.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Dapat dijalankan langsung dengan klik dua kali di peramban tanpa instalasi CLI!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Jalankan berkas slide_17_lab_quest_04_portal_modul_ut.html untuk demonstrasi interaktif lengkap!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slide_17_lab_quest_04_portal_modul_ut.html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Cuplikan Master Solusi Lab Quest 04 --&gt;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&lt;div class="phone-mockup"&gt;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&lt;ion-header&gt;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&lt;ion-toolbar color="primary"&gt;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&lt;ion-buttons slot="start" v-if="currentScreen !== 'catalog'"&gt;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&lt;ion-button @click="navigateBack"&gt;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  &lt;ion-icon name="arrow-back-outline"&gt;&lt;/ion-icon&gt;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&lt;/ion-button&gt;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&lt;/ion-buttons&gt;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&lt;ion-title&gt;Portal Modul BMP UT&lt;/ion-title&gt;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&lt;/ion-toolbar&gt;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&lt;/ion-header&gt;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&lt;!-- Katalog &amp; Rincian KB Terintegrasi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&lt;/div&gt;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(slide_17_lab_quest_04_portal_modul_ut.html)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18 • ROADMAP SESI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Jembatan Sesi 05: Responsive 12-Grid, Form Regex, &amp; Asesmen Tugas 2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828800"/>
            <a:ext cx="164592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288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PILAR 1 • GRID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4028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Sistem Tata Letak 12-Kolom</a:t>
            </a:r>
          </a:p>
          <a:p>
            <a:pPr>
              <a:defRPr sz="950">
                <a:solidFill>
                  <a:srgbClr val="282828"/>
                </a:solidFill>
                <a:latin typeface="Segoe UI"/>
              </a:defRPr>
            </a:pPr>
            <a:r>
              <a:t>Menggunakan &lt;ion-grid&gt;, &lt;ion-row&gt;, dan &lt;ion-col&gt; untuk layout adaptif layar ponsel dan tablet landscape.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0975" y="1828800"/>
            <a:ext cx="164592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8288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PILAR 2 • 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224028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Kontrol Masukan Formulir</a:t>
            </a:r>
          </a:p>
          <a:p>
            <a:pPr>
              <a:defRPr sz="950">
                <a:solidFill>
                  <a:srgbClr val="282828"/>
                </a:solidFill>
                <a:latin typeface="Segoe UI"/>
              </a:defRPr>
            </a:pPr>
            <a:r>
              <a:t>Implementasi ion-input, ion-textarea, ion-select, ion-toggle, dan pemilih tanggal ion-datetime.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3977640"/>
            <a:ext cx="164592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776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PILAR 3 • VALIDASI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38912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Validasi Reaktif &amp; Regex</a:t>
            </a:r>
          </a:p>
          <a:p>
            <a:pPr>
              <a:defRPr sz="950">
                <a:solidFill>
                  <a:srgbClr val="282828"/>
                </a:solidFill>
                <a:latin typeface="Segoe UI"/>
              </a:defRPr>
            </a:pPr>
            <a:r>
              <a:t>Validasi integritas data: NIM 9-digit angka, format surel resmi ecampus.ut.ac.id, dan umpan balik instan.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1247" y="3867912"/>
            <a:ext cx="5120640" cy="1965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8095" y="3794760"/>
            <a:ext cx="5120640" cy="1965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30975" y="3977640"/>
            <a:ext cx="164592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0975" y="39776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TAGIHAN • 20%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0975" y="438912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Pengarahan TUGAS TUTORIAL 2</a:t>
            </a:r>
          </a:p>
          <a:p>
            <a:pPr>
              <a:defRPr sz="950">
                <a:solidFill>
                  <a:srgbClr val="282828"/>
                </a:solidFill>
                <a:latin typeface="Segoe UI"/>
              </a:defRPr>
            </a:pPr>
            <a:r>
              <a:t>Pemberian soal resmi Tugas Tutorial 2: Studi kasus aplikasi formulir registrasi &amp; kalkulasi biaya akademik!</a:t>
            </a:r>
          </a:p>
        </p:txBody>
      </p:sp>
      <p:sp>
        <p:nvSpPr>
          <p:cNvPr id="27" name="Rectangle 26">
            <a:hlinkClick r:id="rId2"/>
          </p:cNvPr>
          <p:cNvSpPr/>
          <p:nvPr/>
        </p:nvSpPr>
        <p:spPr>
          <a:xfrm>
            <a:off x="822960" y="598932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98932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BERKAS PREVIEW SESI 05 &amp; TUGAS 2 (slide_18_preview_sesi_05_layout_grid_form.html)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