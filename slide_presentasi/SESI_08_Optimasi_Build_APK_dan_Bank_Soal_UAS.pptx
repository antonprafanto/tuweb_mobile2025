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01_orientasi_sesi_08_final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02_siklus_rilis_aplikasi_mobile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03_pembuatan_keystore_digital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04_konfigurasi_signing_build_gradle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05_kompilasi_apk_assemble_release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06_instalasi_apk_mandiri_tanpa_pc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07_optimasi_minifikasi_r8_proguard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08_optimasi_aset_dan_tree_shaking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09_audit_keamanan_sebelum_rili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10_pwa_service_worker_offline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11_distribusi_google_play_console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12_kisi_kisi_uas_modul_1_sampai_9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13_bank_soal_uas_bagian_1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14_bank_soal_uas_bagian_2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15_bank_soal_uas_bagian_3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16_bank_soal_uas_bagian_4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17_lab_quest_08_apk_validator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8_build_apk_uas/slide_18_penutup_semester_pesan_dosen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530352"/>
            <a:ext cx="10545775" cy="5897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57200"/>
            <a:ext cx="10545775" cy="58978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594360"/>
            <a:ext cx="99971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0000"/>
                </a:solidFill>
                <a:latin typeface="Segoe UI"/>
              </a:defRPr>
            </a:pPr>
            <a:r>
              <a:t>✦ STSI4303 • PEMROGRAMAN BERBASIS PERANGKAT BERGERAK • SESI 08 (GRAND FINALE &amp; PENUTUP SEMESTER) ✦</a:t>
            </a:r>
          </a:p>
          <a:p>
            <a:pPr>
              <a:spcAft>
                <a:spcPts val="400"/>
              </a:spcAft>
              <a:defRPr sz="2100" b="1">
                <a:solidFill>
                  <a:srgbClr val="000000"/>
                </a:solidFill>
                <a:latin typeface="Segoe UI"/>
              </a:defRPr>
            </a:pPr>
            <a:r>
              <a:t>OPTIMASI KINERJA, BUILD APK STAND-ALONE, &amp; BANK SOAL UAS</a:t>
            </a:r>
          </a:p>
          <a:p>
            <a:pPr>
              <a:defRPr sz="1050">
                <a:solidFill>
                  <a:srgbClr val="464646"/>
                </a:solidFill>
                <a:latin typeface="Segoe UI"/>
              </a:defRPr>
            </a:pPr>
            <a:r>
              <a:t>Dari Kode Web Hybrid Menjadi Berkas Biner Android Mandiri yang Siap Edar serta Pembedahan Tuntas 50 Soal Komprehensif Ujian Akhir Semester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2130552"/>
            <a:ext cx="4864608" cy="2468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057400"/>
            <a:ext cx="4864608" cy="2468880"/>
          </a:xfrm>
          <a:prstGeom prst="rect">
            <a:avLst/>
          </a:prstGeom>
          <a:solidFill>
            <a:srgbClr val="F5F3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94560"/>
            <a:ext cx="449884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81C87"/>
                </a:solidFill>
                <a:latin typeface="Segoe UI"/>
              </a:defRPr>
            </a:pPr>
            <a:r>
              <a:t>🎯 PETA KOMPETENSI 9 MODUL BMP UT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Modul 1–2 (20%): Arsitektur Hybrid, WebView Engine, Web Standards &amp; Vue 3 Composition API.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Modul 3–5 (32%): TypeScript Static Typing, Ionic UI Grid, Formulir Sanitasi Regex &amp; Dark Mode.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Modul 6–8 (32%): Capacitor Bridge Protocol, Android Studio, REST API, Offline Storage &amp; Hardware.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Modul 9 (16%): Kompilasi APK Release, Keystore Digital Signing, Minifikasi R8 &amp; Solusi Crash.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2959" y="2130552"/>
            <a:ext cx="4864608" cy="2468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9807" y="2057400"/>
            <a:ext cx="4864608" cy="2468880"/>
          </a:xfrm>
          <a:prstGeom prst="rect">
            <a:avLst/>
          </a:prstGeom>
          <a:solidFill>
            <a:srgbClr val="FEF3C7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194560"/>
            <a:ext cx="449884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92400E"/>
                </a:solidFill>
                <a:latin typeface="Segoe UI"/>
              </a:defRPr>
            </a:pPr>
            <a:r>
              <a:t>📱 FOKUS SESI 08 &amp; PENUTUP SEMESTER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Pembuatan Sertifikat Kriptografi: Keytool RSA-2048 &amp; Konfigurasi signingConfigs build.gradle.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Kompilasi Biner Mandiri: ./gradlew assembleRelease menghasilkan berkas .apk siap sideloading.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Optimasi &amp; Audit Keamanan: R8 Code Shrinking, WebP Asset Compression, dan Enforce HTTPS.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Master Solusi Lab Quest 08: Interactive APK Validator &amp; Simulasi Ujian 50 Soal UAS 90 Menit.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3856" y="4745736"/>
            <a:ext cx="9997135" cy="6217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2"/>
          </p:cNvPr>
          <p:cNvSpPr/>
          <p:nvPr/>
        </p:nvSpPr>
        <p:spPr>
          <a:xfrm>
            <a:off x="1097280" y="4709160"/>
            <a:ext cx="9997135" cy="621792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745736"/>
            <a:ext cx="98142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0000"/>
                </a:solidFill>
                <a:latin typeface="Segoe UI"/>
              </a:defRPr>
            </a:pPr>
            <a:r>
              <a:t>▶ KLIK DI SINI UNTUK MEMBUKA BERKAS INTERAKTIF ORIENTASI SESI 08 (slide_01_orientasi_sesi_08_final.html)</a:t>
            </a:r>
          </a:p>
          <a:p>
            <a:pPr>
              <a:defRPr sz="750">
                <a:solidFill>
                  <a:srgbClr val="3C3C3C"/>
                </a:solidFill>
                <a:latin typeface="Consolas"/>
              </a:defRPr>
            </a:pPr>
            <a:r>
              <a:t>Tautan Langsung Berkas Pembelajaran: https://github.com/antonprafanto/tuweb_mobile2025/blob/main/contoh_kode_program/sesi_08_build_apk_uas/slide_01_orientasi_sesi_08_final.html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40680"/>
            <a:ext cx="99971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■  ANTON PRAFANTO, S.Kom., M.T.  ■  FAKULTAS SAINS DAN TEKNOLOGI • UNIVERSITAS TERBUKA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206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2062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02 • ARSITEKTUR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5 Tahapan Siklus Hidup Rilis Aplikasi Mobile Profesional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FASE 1: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Iterasi Kode &amp; Live Reload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Pengembangan antarmuka di Chrome Desktop, emulasi Android, dan penulisan komponen Vue 3 / Ionic.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FASE 2: ALPHA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Internal Testing Tim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Pengujian fungsional fitur, RPC bridge, dan sensor pada ponsel fisik tim internal developer.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FASE 3: BETA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Closed Testing Pengguna Nyata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Distribusi APK terbatas ke 20 penguji nyata selama 14 hari untuk validasi stabilitas dan UX.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FASE 4 &amp; 5: RELEASE &amp;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Production &amp; Crash Monitoring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Build release stand-alone ber-tanda tangan digital serta pemantauan crash log pasca rilis.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(slide_02_siklus_rilis_aplikasi_mobile.html)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0919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091939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0919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03 • KEAMANAN KRIPTOGRAFI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Pembuatan Digital Keystore RSA 2048-bit via 'keytool'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Android melarang instalasi APK release tanpa tanda tangan digital kriptografi.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Keystore (.keystore / .jks) membuktikan identitas otentik pengembang aplikasi.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Dibuat sekali seumur hidup aplikasi menggunakan tool bawaan Java SDK (keytool).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Masa berlaku wajib minimal 25 tahun (10.000 hari) agar pembaruan lancar.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PERINGATAN: Kehilangan berkas Keystore membuat aplikasi tidak bisa diperbarui!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Jangan pernah commit berkas keystore ke repositori publik Git. Masukkan ke .gitignore!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slide_03_pembuatan_keystore_digital.html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Perintah Pembuatan Keystore Mandiri: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keytool -genkeypair -v \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-keystore ut-release.keystore \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-alias utkey \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-keyalg RSA \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-keysize 2048 \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-validity 10000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Input saat ditanya: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Keystore password : [Ketik Password Aman]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First/Last Name   : Anton Prafanto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Organization      : Universitas Terbuka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Country Code      : ID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(slide_03_pembuatan_keystore_digital.html)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0919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091939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0919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04 • OTOMASI GRADLE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Konfigurasi Signing Otomatis pada 'android/app/build.gradle'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Mengotomatisasi tanda tangan biner saat perintah assembleRelease dieksekusi.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Blok signingConfigs mendefinisikan path file keystore, password, dan alias kunci.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Blok buildTypes.release ditautkan ke signingConfig signingConfigs.release.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human error penandatanganan manual setiap kali merilis versi baru.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Untuk keamanan enterprise, simpan password di environment variables.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Gunakan file gradle.properties lokal untuk menyembunyikan kata sandi dari repositori bersama.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slide_04_konfigurasi_signing_build_gradle.html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android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...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signingConfigs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release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  storeFile file("ut-release.keystore")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  storePassword "RahasiaKampus2026!"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  keyAlias "utkey"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  keyPassword "RahasiaKampus2026!"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buildTypes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release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  signingConfig signingConfigs.release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  minifyEnabled true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  shrinkResources true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(slide_04_konfigurasi_signing_build_gradle.html)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05 • KOMPILASI BINER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Kompilasi APK Mandiri via Gradle Wrapper (assembleRelease)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Sinkronisasi web terlebih dahulu: npx cap copy android.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Masuk ke direktori native android/ melalui terminal.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Eksekusi ./gradlew assembleRelease (atau gradlew.bat di Windows).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Gradle melakukan kompilasi Java, merging resources, R8 shrinking, dan signing.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Hasil biner final: android/app/build/outputs/apk/release/app-release.apk.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Jika menemui error Gradle Daemon, jalankan './gradlew --stop' lalu ulangi kompilasi.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slide_05_kompilasi_apk_assemble_release.html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Alur Kompilasi Biner Mandiri: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npm run build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npx cap copy android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cd android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Kompilasi Biner Release: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./gradlew assembleRelease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Lokasi Output APK Siap Edar: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android/app/build/outputs/apk/release/app-release.apk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Verifikasi Tanda Tangan: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apksigner verify --verbose app-release.apk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(slide_05_kompilasi_apk_assemble_release.html)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8633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06 • DISTRIBUSI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Distribusi Mandiri (Sideloading) APK ke Ponsel Tanpa PC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JALUR DISTRIBUSI SIDELOADING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Kirim berkas app-release.apk lewat Google Drive, Cloud Storage, atau WhatsApp.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Pengguna mengunduh berkas langsung di perangkat smartphone mereka.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Tidak memerlukan sambungan kabel USB ke komputer atau laptop pengembang.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Solusi ideal untuk aplikasi internal kampus UT atau testing instan mahasiswa.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PROSEDUR KEAMANAN ANDROID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Ponsel memunculkan dialog 'Install from Unknown Sources' saat berkas dibuka.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Pengguna cukup menekan 'Settings' -&gt; 'Allow from this source' sekali saja.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Jika Google Play Protect memberi peringatan dev tidak dikenal, pilih 'Install Anyway'.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Aplikasi terpasang mandiri dengan ikon resmi dan dapat dibuka offline.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(slide_06_instalasi_apk_mandiri_tanpa_pc.html)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07 • OPTIMASI BINER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Minifikasi Kode Native &amp; Tree Shaking via Kompilator R8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R8 menggantikan ProGuard lama sebagai engine optimasi biner default Android.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minifyEnabled true: Membuang kelas/method Java yang tidak pernah dieksekusi.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shrinkResources true: Menghapus berkas gambar/XML yang tidak direferensikan.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Code Obfuscation: Mengubah nama variabel/fungsi menjadi simbol acak (a, b, c).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Mereduksi ukuran APK hingga 40-60% dan melindungi dari reverse engineering.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Selalu simpan kelas plugin Capacitor di proguard-rules.pro agar method RPC tidak terhapus.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slide_07_optimasi_minifikasi_r8_proguard.html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android/app/build.gradle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buildTypes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release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// Aktifkan R8 Optimizer &amp; Shrunk Resources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minifyEnabled true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shrinkResources true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proguardFiles getDefaultProguardFile(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  'proguard-android-optimize.txt'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), 'proguard-rules.pro'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proguard-rules.pro (Pengecualian Refleksi Capacitor)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-keep class com.getcapacitor.** { *; 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(slide_07_optimasi_minifikasi_r8_proguard.html)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8633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08 • PERFORMA FRONT-END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Optimasi Aset Web: Kompresi WebP &amp; Tree Shaking ES Modules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OPTIMASI GRAFIS &amp; MEDIA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Konversi seluruh format gambar PNG/JPEG menjadi format modern WebP.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Penghematan ukuran media hingga 70% tanpa degradasi kualitas kasat mata.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Gunakan ikon vektor SVG alih-alih raster bitmap untuk resolusi tajam.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Hindari menyematkan file video berukuran besar langsung ke dalam aset lokal.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OPTIMASI KODE JAVASCRIPT / CSS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Manfaatkan Dynamic Import () untuk lazy-loading rute halaman aplikasi.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Hapus dependensi NPM usang yang tidak terpakai menggunakan bundler Vite.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Pastikan First Contentful Paint (FCP) di bawah 1.5 detik pada WebView.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Aktifkan hardware acceleration dengan properti transform: translateZ(0).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(slide_08_optimasi_aset_dan_tree_shaking.html)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9776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09 • PROTEKSI &amp; KEAMANAN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Checklist Audit Keamanan Aplikasi Sebelum Rilis Produksi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DEBUGGABLE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Nonaktifkan Mode Debug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Pastikan android:debuggable='false' agar memori aplikasi tidak bisa di-dump pihak luar.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ENFORCE HTTPS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Tolak Cleartext Traffic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usesCleartextTraffic='false' mewajibkan seluruh komunikasi REST API memakai TLS/HTTPS.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ZERO HARDCODED SECRETS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Bersihkan Kunci Rahasia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Jangan tinggalkan API secret key atau password database di dalam kode front-end JS.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MINIMAL PERMISSIONS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Prinsip Least Privilege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Hapus izin kamera/GPS di AndroidManifest jika aplikasi tidak benar-benar membutuhkannya.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(slide_09_audit_keamanan_sebelum_rilis.html)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0919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091939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0919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10 • JALUR DISTRIBUSI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Distribusi Alternatif: Progressive Web App (PWA) Offline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PWA memungkinkan instalasi web ke ponsel tanpa melalui app store apa pun.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Berkas manifest.json mendefinisikan nama, ikon aplikasi, dan mode standalone.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Service Worker bertindak sebagai proxy jaringan klien untuk caching offline.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Mendukung 'Add to Home Screen' di browser Chrome Android dan Safari iOS.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Aplikasi tetap dapat dibuka dan berfungsi penuh saat pengguna kehabisan kuota.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Gunakan Lighthouse di Chrome DevTools untuk memverifikasi kesiapan PWA Anda hingga 100%.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slide_10_pwa_service_worker_offline.html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sw.js (Service Worker Cache-First)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CACHE_NAME = 'ut-cache-v1';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ASSETS = ['/', '/index.html', '/app.js', '/style.css'];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self.addEventListener('install', (e)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e.waitUntil(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caches.open(CACHE_NAME).then(c =&gt; c.addAll(ASSETS))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self.addEventListener('fetch', (e)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e.respondWith(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caches.match(e.request).then(res =&gt; res || fetch(e.request))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(slide_10_pwa_service_worker_offline.html)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0919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091939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0919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11 • DISTRIBUSI KOMERSIAL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Format Android App Bundle (.aab) &amp; Google Play Console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APK MONOLITHIC VS FORMAT AAB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Google mewajibkan format .aab untuk semua aplikasi baru di Play Store.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Perintah kompilasi Play Store: ./gradlew bundleRelease.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Dynamic Delivery: Google Play memecah AAB sesuai arsitektur CPU dan layar HP.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Menghemat ukuran download pengguna akhir hingga 35% lebih ringan.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4 RELEASE TRACKS DI PLAY 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1. Internal Testing: Khusus tim inti pengembang (review instan hitungan menit).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2. Closed Testing: Wajib 20 penguji aktif selama minimal 14 hari berturut-turut.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3. Open Testing: Terbuka untuk umum yang ingin mendaftar sebagai beta tester.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4. Production Track: Siap diunduh publik global setelah disetujui kurator Google.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(slide_11_distribusi_google_play_console.html)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5006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50063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5006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12 • SILABUS UJIAN AKHIR SEMESTER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Pemetaan Kisi-kisi Soal UAS: Modul 1 sampai Modul 9 BMP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PORSI 20%: MODUL 1 &amp;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Arsitektur Hybrid &amp; Vue 3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Konsep WebView, single codebase, Vue Composition API, ref(), reactive(), dan directives v-model.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PORSI 32%: MODUL 3, 4,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TypeScript, UI &amp; Dark Mode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Interface contracts, Type safety, Ionic Grid 12-kolom, Regex sanitization, dan prefers-color-scheme.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PORSI 32%: MODUL 6, 7,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Bridge, REST API &amp; Storage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Capacitor RPC bridge, AndroidManifest, async/await fetch, Preferences CRUD, GPS &amp; Kamera.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PORSI 16%: MODUL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Build APK &amp; Troubleshooting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Keystore digital signing, R8 shrinking, assembleRelease, dan studi kasus White Screen of Death.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(slide_12_kisi_kisi_uas_modul_1_sampai_9.html)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13 • BANK SOAL UAS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Simulasi Soal UAS Bagian 1: Arsitektur Hybrid &amp; Vue.js 3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FOKUS KOMPETENSI SOAL 01 - 08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Karakteristik arsitektur hybrid vs native murni (single codebase).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Peran Android System WebView berbasis Chromium sebagai mesin rendering.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Reactivity System Vue 3 berbasis JavaScript Proxy API.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Perbedaan ref() vs reactive() dan akses properti .value.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FOKUS KOMPETENSI SOAL 09 - 15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Perbedaan mekanisme direktif v-if (destroy DOM) vs v-show (display: none).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Pentingnya binding :key pada v-for untuk efisiensi diffing Virtual DOM.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Eksekusi inisialisasi API pada lifecycle hook onMounted().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Akselerasi hardware GPU pada transisi antarmuka Ionic 60 FPS.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(slide_13_bank_soal_uas_bagian_1.html)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14 • BANK SOAL UAS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Simulasi Soal UAS Bagian 2: TypeScript, Grid &amp; Formulir Mobile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FOKUS KOMPETENSI SOAL 16 - 22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TypeScript sebagai superset statis JavaScript untuk mencegah runtime bug.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Deklarasi kontrak data menggunakan interface dan properti opsional (?).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Penerapan Union Type (|) untuk membatasi nilai status variabel.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Sistem tata letak 12-kolom pada ion-grid, ion-row, dan ion-col.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FOKUS KOMPETENSI SOAL 23 - 30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Breakpoint responsif size='12' size-md='6' untuk adaptasi tablet.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Validasi format NIM 9 digit UT dengan pola Regex: /^\d{9}$/.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Fungsi anchor caret (^) awal dan dollar ($) akhir string pada Regex.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Deteksi preferensi Dark Mode via media query prefers-color-scheme.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(slide_14_bank_soal_uas_bagian_2.html)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15 • BANK SOAL UAS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Simulasi Soal UAS Bagian 3: Capacitor Bridge, API &amp; Storage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FOKUS KOMPETENSI SOAL 31 - 38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Peran Capacitor Bridge menjembatani JavaScript WebView ke Java/Kotlin native.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Perbedaan perintah npx cap copy vs npx cap sync.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Deklarasi izin hardware di AndroidManifest.xml (&lt;uses-permission&gt;).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Mekanisme Runtime Permission dialog interaktif pada Android 6.0+.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FOKUS KOMPETENSI SOAL 39 - 45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Penanganan galat jaringan fetch API dengan blok try-catch-finally.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Keunggulan persisten @capacitor/preferences dibanding localStorage browser.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Penguncian GPS Geolocation via Geolocation.getCurrentPosition().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Remote debugging perangkat fisik via Google Chrome Desktop (chrome://inspect).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(slide_15_bank_soal_uas_bagian_3.html)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16 • BANK SOAL UAS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Simulasi Soal UAS Bagian 4: Keystore, Build &amp; Kasus Produksi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FOKUS KOMPETENSI SOAL 46 - 48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Tujuan tanda tangan Keystore: Verifikasi identitas dev &amp; integritas file APK.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Perbedaan assembleRelease (.apk sideloading) vs bundleRelease (.aab Play Store).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Dampak fatal kehilangan berkas keystore: Aplikasi tidak pernah bisa diperbarui!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Perlindungan kekayaan intelektual kode dengan R8 Obfuscation.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STUDI KASUS PRODUKSI SOAL 49 - 50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Pembedahan kasus White Screen of Death pada Android versi lama.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Akar masalah: WebView bawaan belum mendukung JavaScript modern (ES2020+).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Solusi tepat: Perbarui Android System WebView atau set target transpilasi ES2015.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Verifikasi kesiapan rilis APK menggunakan automated audit checklist.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(slide_16_bank_soal_uas_bagian_4.html)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777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777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777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17 • MASTER SOLUSI LAB QUEST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🎯 Interactive APK Release Validator &amp; 50 Soal UAS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Tab 1: Automated APK Release Readiness Audit untuk memverifikasi keamanan biner.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Tab 2: Simulasi Penuh 50 Soal UAS berwaktu mundur 90 menit standar UT.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Matriks navigasi 50 butir nomor soal dengan indikator warna interaktif.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Perhitungan skor instan 0–100, predikat nilai (A/B/C/D/E), dan standar kelulusan (&gt;= 56).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Pembahasan pedagogis per butir soal untuk penguatan konsep sebelum ujian nyata.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Luangkan waktu 90 menit penuh tanpa catatan untuk mengukur kesiapan murni Anda menghadapi UAS!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slide_17_lab_quest_08_apk_validator.html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Lab Quest 08: Master Engine Evaluasi UAS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&lt;div id="app"&gt;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&lt;!-- Tab 1: APK Security &amp; Build Audit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&lt;apk-readiness-checker :score="auditScore" /&gt;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&lt;!-- Tab 2: 50-Question Interactive UAS Simulator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&lt;div class="exam-engine"&gt;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&lt;timer-badge :remaining="remainingSeconds" /&gt;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&lt;number-matrix :total="50" :answers="userAnswers" /&gt;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&lt;question-card :data="currentQuestion" @select="recordAnswer" /&gt;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&lt;result-card v-if="submitted" :final-score="score" /&gt;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&lt;/div&gt;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(slide_17_lab_quest_08_apk_validator.html)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777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7777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777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18 • PENUTUP SEMESTER 2026/2027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🎓 Refleksi Semester &amp; Langkah Menuju Profesional Mobile Engineer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PENCAPAIAN AKBAR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8 Sesi Pembelajaran Tuntas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Menguasai web components, Vue 3, TypeScript, Ionic UI, Capacitor Bridge, REST API, hingga build APK.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LANGKAH 1: PORTOFOLIO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Rapikan Repositori GitHub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Unggah Tugas Tutorial 1, 2, 3, dan Lab Quests ke GitHub publik Anda sebagai portofolio karir.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LANGKAH 2: ENTERPRISE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Eksplorasi Fitur Lanjutan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Pelajari FCM Push Notifications, SQLite database terenkripsi, dan Biometric FaceID/Fingerprint.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PESAN DOSEN PENGAMPU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Pak Anton Prafanto, M.T.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Teruslah berkarya! Bangun aplikasi yang memberi manfaat nyata bagi masyarakat. Sukses di UAS!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(slide_18_penutup_semester_pesan_dosen.html)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