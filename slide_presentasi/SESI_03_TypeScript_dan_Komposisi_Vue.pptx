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1_roadmap_sesi_dan_tugas_1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2_urgensi_typescript_mobile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3_tipe_primitif_dan_any_hazard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4_union_dan_literal_type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5_interface_model_mahasiswa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6_optional_dan_readonly_properties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7_generics_array_koleksi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8_fungsi_type_annot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9_vue3_script_setup_lang_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0_typing_ref_dan_reactive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1_typing_koleksi_array_reaktif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2_typing_computed_properties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3_typing_props_komponen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4_typing_emits_komponen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5_typing_dom_events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6_rubrik_tugas_tutorial_1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7_solusi_tugas_1_kalkulator_nilai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8_preview_sesi_04_ionic_ui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03 ✦</a:t>
            </a:r>
          </a:p>
          <a:p>
            <a:pPr>
              <a:spcAft>
                <a:spcPts val="400"/>
              </a:spcAft>
              <a:defRPr sz="2200" b="1">
                <a:solidFill>
                  <a:srgbClr val="000000"/>
                </a:solidFill>
                <a:latin typeface="Segoe UI"/>
              </a:defRPr>
            </a:pPr>
            <a:r>
              <a:t>KEAMANAN TIPE DATA TYPESCRIPT &amp; VUE COMPOSITION API</a:t>
            </a:r>
          </a:p>
          <a:p>
            <a:pPr>
              <a:defRPr sz="1050">
                <a:solidFill>
                  <a:srgbClr val="464646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3 • Type Safety, Interface, Generics, &amp; Bedah Kasus TUGAS TUTORIAL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5F3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6D28D9"/>
                </a:solidFill>
                <a:latin typeface="Segoe UI"/>
              </a:defRPr>
            </a:pPr>
            <a:r>
              <a:t>🗺️ ROADMAP KURIKULUM &amp; SESI 03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Milestone 1 STSI4303:</a:t>
            </a:r>
            <a:r>
              <a:rPr sz="950">
                <a:solidFill>
                  <a:srgbClr val="323232"/>
                </a:solidFill>
                <a:latin typeface="Segoe UI"/>
              </a:rPr>
              <a:t> Titik tolak evaluasi mandiri pertama setelah fondasi Vue Sesi 1-2.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Type Safety Mobile:</a:t>
            </a:r>
            <a:r>
              <a:rPr sz="950">
                <a:solidFill>
                  <a:srgbClr val="323232"/>
                </a:solidFill>
                <a:latin typeface="Segoe UI"/>
              </a:rPr>
              <a:t> Mengeliminasi galat runtime crash di smartphone sebelum aplikasi dirilis.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Vue 3 Composition API:</a:t>
            </a:r>
            <a:r>
              <a:rPr sz="950">
                <a:solidFill>
                  <a:srgbClr val="323232"/>
                </a:solidFill>
                <a:latin typeface="Segoe UI"/>
              </a:rPr>
              <a:t> Integrasi &lt;script setup lang='ts'&gt; dengan ref, reactive, dan computed.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Prinsip Zero-Friction:</a:t>
            </a:r>
            <a:r>
              <a:rPr sz="950">
                <a:solidFill>
                  <a:srgbClr val="323232"/>
                </a:solidFill>
                <a:latin typeface="Segoe UI"/>
              </a:rPr>
              <a:t> 18 berkas mandiri HTML siap klik 2x langsung jalan di browser Google Chrome.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057400"/>
            <a:ext cx="4864608" cy="246888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5803D"/>
                </a:solidFill>
                <a:latin typeface="Segoe UI"/>
              </a:defRPr>
            </a:pPr>
            <a:r>
              <a:t>🎯 ORIENTASI TAGIHAN TUGAS TUTORIAL 1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Bobot Penilaian Besar:</a:t>
            </a:r>
            <a:r>
              <a:rPr sz="950">
                <a:solidFill>
                  <a:srgbClr val="323232"/>
                </a:solidFill>
                <a:latin typeface="Segoe UI"/>
              </a:rPr>
              <a:t> Berkontribusi dominan terhadap 70% nilai akhir tutorial semester.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Studi Kasus Kalkulator UT:</a:t>
            </a:r>
            <a:r>
              <a:rPr sz="950">
                <a:solidFill>
                  <a:srgbClr val="323232"/>
                </a:solidFill>
                <a:latin typeface="Segoe UI"/>
              </a:rPr>
              <a:t> Aplikasi hitung total SKS, konversi huruf ke mutu, dan prediksi IPS.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4 Pilar Rubrik FST UT:</a:t>
            </a:r>
            <a:r>
              <a:rPr sz="950">
                <a:solidFill>
                  <a:srgbClr val="323232"/>
                </a:solidFill>
                <a:latin typeface="Segoe UI"/>
              </a:rPr>
              <a:t> Model TS (25%), Reaktivitas (25%), Logika IPS (30%), Video YouTube (20%).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Master Solusi Resmi:</a:t>
            </a:r>
            <a:r>
              <a:rPr sz="950">
                <a:solidFill>
                  <a:srgbClr val="323232"/>
                </a:solidFill>
                <a:latin typeface="Segoe UI"/>
              </a:rPr>
              <a:t> Disediakan acuan lengkap di slide_17 dan kalkulator rubrik mandiri di slide_16.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45152"/>
            <a:ext cx="99971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3856" y="5020056"/>
            <a:ext cx="9997135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1097280" y="4983480"/>
            <a:ext cx="9997135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0056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▶ KLIK DI SINI UNTUK MEMBUKA BERKAS INTERAKTIF ROADMAP &amp; TAGIHAN TUGAS 1 (slide_01_roadmap_sesi_dan_tugas_1.html)</a:t>
            </a:r>
          </a:p>
          <a:p>
            <a:pPr>
              <a:defRPr sz="850">
                <a:solidFill>
                  <a:srgbClr val="3C3C3C"/>
                </a:solidFill>
                <a:latin typeface="Segoe UI"/>
              </a:defRPr>
            </a:pPr>
            <a:r>
              <a:t>Tautan resmi menuju repositori GitHub tuweb_mobile2025 • Siap dieksekusi langsung di Google Chrome tanpa instalasi server!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URGENSI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Industri Mobile Mewajibkan TypeScript? Mencegah Silent Crash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BAHAYA JAVASCRIPT MURNI (DYNAMIC)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Typo properti data mahasiswa: mhs.skorIpk alih-alih mhs.ipk.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JavaScript diam saja dan mengembalikan nilai undefined.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Kalkulasi angka menjadi NaN (Not a Number) tanpa peringatan.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Aplikasi mendadak force close di tangan ribuan pengguna ponsel.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Biaya perbaikan bug di fase produksi 30x lebih mahal.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KEKUATAN TYPESCRIPT (STATIC TYPING)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Setiap entitas data diikat oleh Kontrak Antarmuka (Interface).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Pendeteksian galat seketika saat mengetik kode di editor VS Code.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Autocompletion cerdas mempercepat proses koding hingga 3x lipat.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Refactoring basis kode besar menjadi sangat aman dan terpercaya.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Fondasi wajib untuk menyelesaikan TUGAS TUTORIAL 1 secara presisi.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(slide_02_urgensi_typescript_mobile.html)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TIPE PRIMITIF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Tipe Data Primitif TypeScript &amp; Menghindari Jebakan 'any'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Tipe primitif inti: string (teks), number (angka), boolean (logika).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Anotasi tipe dilakukan dengan menambahkan tanda titik dua (:).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Jebakan 'any': Mematikan seluruh fungsi perlindungan TypeScript!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Jika terpaksa menerima data belum pasti, gunakan tipe unknown.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type narrowing (typeof) untuk memeriksa tipe data unknown.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meloloskan tipe 'any' dalam tugas kuliah maupun proyek industri!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slide_03_tipe_primitif_dan_any_hazard.html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Anotasi Tipe Data Primitif Eksplisit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nim: string = "043123456";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totalSks: number = 18;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isAktif: boolean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ANTI-PATTERN: Jangan gunakan 'any'!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let dataNilai: any = "Lulus";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dataNilai = 4.0; // Mematikan keamanan!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✅ BEST PRACTICE: unknown dengan validasi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inputUser: unknown = "100";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if (typeof inputUser === "string")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console.log(inputUser.trim());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(slide_03_tipe_primitif_dan_any_hazard.html)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LITERAL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Union Types &amp; Literal Types: Mengunci Nilai Sah secara Mutlak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Literal Types menggunakan nilai spesifik (bukan sekadar tipe umum) sebagai tipe.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Union Operator (|) menggabungkan sejumlah kemungkinan nilai 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UT, nilai huruf hanya boleh A, B, C, D, atau E (bukan sembarang teks!).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pengguna menginput nilai typo seperti 'A+' atau 'B minus'.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ideal untuk status registrasi: 'Aktif' | 'Cuti' | 'Lulus'.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Union Types pada kolom dropdown status agar data selalu valid dan konsisten.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slide_04_union_dan_literal_types.html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Literal Types untuk Nilai Huruf Resmi UT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type NilaiHuruf = 'A' | 'B' | 'C' | 'D' | 'E';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Literal Types untuk Status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type StatusMahasiswa = 'Aktif' | 'Cuti' | 'Lulus';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Penggunaan pada Variabel: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nilaiTugas: NilaiHuruf = 'A'; // ✅ Sah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COMPILE ERROR: Type '"A+"' is not assignable to type 'NilaiHuruf'!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nilaiTugas = 'A+';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(slide_04_union_dan_literal_types.html)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KONTRAK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Mendefinisikan Interface Model Mahasiswa &amp; Mata Kuliah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Interface adalah kontrak arsitektur yang menentukan bentuk properti objek.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Zero Runtime Overhead: Interface dihapus saat kompilasi ke JavaScript murni.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Membuat kode tim menjadi seragam dan terdokumentasi mandiri.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Menjadi cetak biru bagi basis data dan respon REST API 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diekspor dan digunakan lintas berkas Vue menggunakan export interface.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Pisahkan interface model ke berkas tersendiri (.ts) agar mudah diimpor di banyak halaman.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slide_05_interface_model_mahasiswa.ts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interface MataKuliah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id: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nilaiHuruf?: NilaiHuruf;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interface MahasiswaUT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nim: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upbjj: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programStudi: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semesterBerjalan: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status: StatusMahasiswa;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daftarNilai: MataKuliah[];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(slide_05_interface_model_mahasiswa.html)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PROPERTI KHUSUS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Properti Opsional (?) dan Mutlak Tak-Terubah (readonly)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readonly nim: string menjamin NIM tidak pernah termutasi setelah dibuat.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bug fatal di mana ID atau NIM mahasiswa tertimpa data lain.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Tanda tanya (?) menandakan properti boleh bernilai undefined saat inisialisasi.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Contoh: emailKampus?: string atau catatanTutor?: string.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fleksibilitas form pendaftaran yang bertahap.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readonly pada primary key ID dan NIM untuk menjamin keamanan integritas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slide_06_optional_dan_readonly_properties.html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interface ProfilMahasiswa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nim: string;     // 🔒 Mutlak tidak boleh diubah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             // 📝 Wajib diisi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noHp?: string;            // ❓ Opsional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emailKampus?: string;     // ❓ Opsional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mhs: ProfilMahasiswa =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'Bambang Sugiarto'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COMPILE ERROR: Cannot assign to 'nim' because it is a read-only property!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mhs.nim = '049999999';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(slide_06_optional_dan_readonly_properties.html)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KOLEKSI GENERIK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Generics pada Koleksi: Array&lt;T&gt; vs T[] untuk Manipulasi 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Generics memungkinkan kita membuat wadah array yang menjaga tipe elemennya.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Format Shorthand: MataKuliah[]. Format Formal: Array&lt;MataKuliah&gt;.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array (map, filter, reduce) langsung mengenali properti .sks.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TypeScript menolak jika ada elemen yang didorong (push) tidak sesuai interface.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operasi kalkulasi fungsional yang sangat bersih dan teruji.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Generics Array agar fungsi reduce kalkulator SKS Anda terhindar dari bug NaN.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slide_07_generics_array_koleksi.html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Koleksi bertipe Array&lt;MataKuliah&gt;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keranjangMk: Array&lt;MataKuliah&gt; = 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'1', kode: 'STSI4303', nama: 'Mobile',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'2', kode: 'MSIM4206', nama: 'Basis Data', sks: 3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Operasi reduce langsung mengenali tipe number pada item.sks!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keranjangMk.reduce((total, 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total + mk.sks; // Otomatis autocomplete!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}, 0);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(slide_07_generics_array_koleksi.html)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ANOTASI FUNGSI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Anotasi Tipe Fungsi: Parameter Ketat &amp; Return Type Eksplisit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Fungsi kalkulasi nilai akademik wajib memiliki tipe parameter dan kembalian.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Sintaks: function namaFungsi(param1: Tipe): ReturnType { ... }.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kesalahan urutan pemanggilan argumen pada method.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Mengharuskan fungsi benar-benar mengembalikan tipe data yang dijanjikan.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Fungsi void digunakan untuk operasi yang tidak mengembalikan nilai.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tulis return type secara eksplisit pada fungsi kalkulasi bisnis akademik.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slide_08_fungsi_type_annotation.html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Konversi Bobot dengan Return Type Eksplisit : number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konversiBobot(huruf: NilaiHuruf): number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switch (huruf)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'A': return 4.0;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'B': return 3.0;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'C': return 2.0;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'D': return 1.0;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'E': return 0.0;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Hitung Mutu: (sks: number, huruf: NilaiHuruf) =&gt; number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hitungMutu(sks: number, huruf: NilaiHuruf): number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sks * konversiBobot(huruf);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(slide_08_fungsi_type_annotation.html)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SINTAKS MODERN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Integrasi Vue 3 &amp; TypeScript: &lt;script setup lang="ts"&gt;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sematkan atribut lang="ts" pada tag pembuka &lt;script setup&gt;.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Seluruh variabel reaktif dan fungsi langsung berada di bawah perlindungan TypeScript.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Template HTML otomatis mengenali tipe data variabel yang dideklarasikan.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Zero Boilerplate: Tidak butuh pemanggilan defineComponent atau return { ... }.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Kompilasi jauh lebih kencang karena sintaks dioptimalkan oleh Vite compiler.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'import type' saat hanya mengimpor interface untuk optimasi ukuran bundler.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slide_09_vue3_script_setup_lang_ts.html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type { MahasiswaUT } from './models';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State bertipe ketat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mahasiswa = ref&lt;MahasiswaUT&gt;({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'Budi Raharjo',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upbjj: 'Jakarta',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programStudi: 'Sistem Informasi',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semesterBerjalan: 5,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status: 'Aktif',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daftarNilai: []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&lt;h2&gt;{{ mahasiswa.nama }} ({{ mahasiswa.nim }})&lt;/h2&gt;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(slide_09_vue3_script_setup_lang_ts.html)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REAKTIVITAS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Typing Reaktif: ref&lt;T&gt;() vs reactive&lt;T&gt;()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ref&lt;T&gt;() memanfaatkan kurung siku generik untuk mengunci tipe data primitif.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deklarasi nullable: ref&lt;MahasiswaUT | null&gt;(null) sebelum fetch API.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TypeScript memaksa pengecekan kondisi if (user.value) sebelum mengakses data.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reactive&lt;T&gt;() mengikat seluruh properti objek ke dalam interface yang sama.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kemungkinan memasukkan tipe data yang keliru ke dalam state.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ref&lt;T | null&gt;(null) saat mendeklarasikan state yang diisi dari REST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slide_10_typing_ref_dan_reactive.html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reactive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Ref Primitif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targetIpk = ref&lt;number&gt;(3.75);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Ref Nullable (Cocok untuk data asinkron dari API)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dataMahasiswa = ref&lt;MahasiswaUT | null&gt;(null);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Reactive Objek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formRegistrasi = reactive&lt;{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kodeMk: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}&gt;({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kodeMk: 'STSI4303',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3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(slide_10_typing_ref_dan_reactive.html)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MUTASI 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Mengelola Array Koleksi Bertipe: ref&lt;MataKuliah[]&gt;([])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Deklarasi array reaktif: const daftarNilai = ref&lt;MataKuliah[]&gt;([]).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push() divalidasi ketat: wajib menyertakan kode, nama, dan sks bertipe number.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filter() mempertahankan kepatuhan interface pada hasil array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tercampurnya data baris nilai dengan objek data yang tidak relevan.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Menjadi fondasi utama wadah tabel nilai pada studi kasus Tugas Tutorial 1.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berikan nilai awal array kosong [] pada ref&lt;T[]&gt;([]) untuk mencegah error undefined.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slide_11_typing_koleksi_array_reaktif.html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daftarNilai = ref&lt;MataKuliah[]&gt;([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'1', kode: 'STSI4303', nama: 'Mobile', sks: 3, nilaiHuruf: 'A'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Tambah dengan validasi parameter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tambahNilai(itemBaru: MataKuliah):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daftarNilai.value.push(itemBaru);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Hapus baris dengan ID string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hapusNilai(id: string):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daftarNilai.value = daftarNilai.value.filter(x =&gt; x.id !== id);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(slide_11_typing_koleksi_array_reaktif.html)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KALKULASI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Type Safety pada Properti Terkalkulasi: computed&lt;T&gt;()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computed&lt;T&gt;() mengunci tipe hasil perhitungan otomatis secara mutlak.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computed&lt;number&gt;(): Menghitung Total SKS dan Total Mutu Nilai.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computed&lt;string&gt;(): Menentukan Predikat Kelulusan (Cumlaude / Sangat Memuaskan).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Menghindarkan bug tipe ambigu (misal kalkulasi pecahan IPS tertukar jadi string).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kenyamanan penuh saat diakses di bagian template HTML.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toFixed(2) untuk membulatkan nilai IPS mahasiswa ke 2 angka di belakang koma.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slide_12_typing_computed_properties.html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Computed Total SKS (number)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daftarNilai.value.reduce((tot, mk) =&gt; tot + mk.sks,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Computed Nilai IPS 2 desimal (string/number)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=== 0) return 0.0;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totalMutu = daftarNilai.value.reduce((tot, 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tot + (mk.sks * konversiBobot(mk.nilaiHuruf || 'E'));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parseFloat((totalMutu / totalSks.value).toFixed(2));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(slide_12_typing_computed_properties.html)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PROPS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Props Komponen Bertipe: defineProps&lt;T&gt;()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Type-based props declaration: Mendeklarasikan props menggunakan generic interface murni.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Jauh lebih ringkas dan bersih dibanding deklarasi options lama.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Makro withDefaults() digunakan untuk memberikan nilai bawaan pada properti opsional.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induk yang memanggil komponen ini langsung divalidasi oleh VS Code.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penting saat menyusun modul kartu mata kuliah yang dapat dipakai ulang.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withDefaults() untuk memberikan nilai fallback yang aman pada props opsional.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slide_13_typing_props_komponen.html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DALAM SUB-KOMPONEN (KartuNilai.vue)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type { MataKuliah } from './models';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Type-based props declaration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props = withDefaults(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defineProps&lt;{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matakuliah: MataKuliah;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isEditable?: boolean;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}&gt;(),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isEditable: true } // Nilai default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class="card"&gt;{{ matakuliah.kode }} - {{ matakuliah.nama }}&lt;/div&gt;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(slide_13_typing_props_komponen.html)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EMITS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Emits Bertipe: defineEmits&lt;T&gt;()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defineEmits&lt;T&gt;() mengunci nama event dan tipe parameter payload yang dipancarkan.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salah ketik nama event (misal: 'hapus-mk' tertulis 'delete-mk').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Menjamin parameter yang dikirim selalu bertipe string atau ID yang 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induk mendapatkan autocomplete saat mengetik @nama-event.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Menjaga kontrak komunikasi antar-komponen tetap kokoh dan modular.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Beri tipe spesifik pada payload emit agar komponen induk tidak salah memproses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slide_14_typing_emits_komponen.html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DALAM SUB-KOMPONEN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Deklarasi event kustom bertipe ketat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emit = defineEmits&lt;{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(e: 'hapus-mk', id: string): void;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(e: 'ubah-nilai', id: string, nilaiBaru: NilaiHuruf): void;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}&gt;();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onBtnHapusClick(id: string):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emit('hapus-mk', id); // Payload wajib bertipe string!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(slide_14_typing_emits_komponen.html)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948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DOM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Penanganan DOM Events Bertipe (Event &amp; Type Casting)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Saat menangani input manual di template, objek event bawaan memiliki tipe Event.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event.target secara default dianggap tipe generic EventTarget (tidak punya .value).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TypeScript: Lakukan type casting dengan (event.target as HTMLInputElement).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Khusus interaksi keyboard: gunakan KeyboardEvent untuk membaca event.key.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Khusus interaksi sentuh mobile: gunakan TouchEvent untuk membaca posisi sentuhan.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kata kunci 'as HTMLInputElement' saat membaca value dari event onChange native.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slide_15_typing_dom_events.html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Event Input dengan Type Casting eksplisit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handleInputNIM(e: Event):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target = e.target as HTMLInputElement;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console.log("NIM yang diketik:", target.value);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Event Keyboard spesifik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handleKeyDown(e: KeyboardEvent):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(e.key === 'Enter')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console.log("Tombol Enter ditekan!");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(slide_15_typing_dom_events.html)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EVALUASI AKADEMIK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Rubrik Penilaian Resmi TUGAS TUTORIAL 1 (Skala 0 - 100)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1. Model Data TypeScript &amp; Type Safety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Mendefinisikan interface MataKuliah &amp; MahasiswaUT secara ketat tanpa memakai 'any'. Menerapkan literal types untuk nilai huruf ('A'|'B'|'C'|'D'|'E').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2. Reaktivitas Vue 3 &amp; Validasi Form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Implementasi ref, reactive, v-model.number, validasi batas beban SKS (1-6), serta tombol aksi penambahan dan penghapusan baris data reaktif.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3. Logika Kalkulasi Otomatis (Computed)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Kalkulasi otomatis Total SKS, Total Mutu, Nilai IPS (2 desimal), dan penentuan Predikat Akademik dengan computed properties berefisiensi cache.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4. Video Demonstrasi &amp; Integritas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Menyertakan link video YouTube Unlisted (3-5 menit) demonstrasi aplikasi dan penjelasan kode dengan wajah mahasiswa. Bebas plagiasi.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KALKULATOR RUBRIK INTERAKTIF (slide_16_rubrik_tugas_tutorial_1.html)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🎯 Master Solusi Resmi Tugas Tutorial 1: Kalkulator Nilai &amp; IPS Mahasiswa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Utuh: Memenuhi 100% rubrik penilaian Tugas Tutorial 1.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Kartu Profil: Menampilkan NIM, Nama, UPBJJ, dan Program Studi Mahasiswa.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 Nilai: Input kode, nama mata kuliah, beban SKS, dan opsi nilai huruf.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Tabel Rekapitulasi: Mutasi dinamis (tambah, hapus, ubah nilai huruf per baris).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Kalkulator Reaktif: Total SKS, Total Mutu, Nilai IPS, Predikat, &amp; Cetak Ringkasan.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Buka dan jalankan berkas slide_17 di browser Anda sebagai referensi utama pengerjaan Tugas 1!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slide_17_solusi_tugas_1_kalkulator_nilai.html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Cuplikan Logika Inti Solusi Tugas 1: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daftarNilai.value.reduce((a, b) =&gt; a + b.sks,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computed&lt;string&gt;(()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=== 0) return '0.00';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mutu = daftarNilai.value.reduce((acc, item)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acc + (item.sks * getBobotAngka(item.nilaiHuruf));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(mutu / totalSks.value).toFixed(2);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Predikat otomatis berdasarkan skala resmi UT!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(slide_17_solusi_tugas_1_kalkulator_nilai.html)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JEMBATAN SESI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Menuju Ekosistem Mobile Asli: Mengapa Butuh Ionic Framework?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TAMPILAN HTML WEB BIASA (SESI 1-3)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Elemen standar tombol dan kartu terasa kaku seperti website desktop.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Tidak ada efek sentuhan riak (Material Design Ripple Effect).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Tidak memiliki animasi transisi halaman khas smartphone.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Desain tidak otomatis beradaptasi antara Android dan iOS.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Navigasi masih menggunakan sistem link URL halaman web klasik.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KEKUATAN IONIC UI COMPONENTS (SESI 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Komponen siap pakai: ion-app, ion-page, ion-header, ion-card.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Otomatis berganti gaya: Material Design di Android, Cupertino di iOS.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Sistem Navigasi Tumpukan Kartu Mobile (Mobile Stack Navigation).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Siklus hidup khusus mobile: ionViewDidEnter &amp; ionViewWillLeave.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Langkah awal membangun APK Android asli di perkuliahan kita!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(slide_18_preview_sesi_04_ionic_ui.html)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