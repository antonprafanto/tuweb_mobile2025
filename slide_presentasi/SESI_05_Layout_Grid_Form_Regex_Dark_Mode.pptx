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2_konsep_12_kolom_ion_grid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4_alignment_dan_offset_grid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5_kontrol_input_teks_ion_input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6_area_teks_dan_pilihan_dropdown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7_sakelar_toggle_checkbox_radio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8_pemilih_tanggal_ion_datetime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09_prinsip_validasi_reaktif_form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0_validasi_regex_nim_9_digit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1_validasi_regex_email_ecampus_u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2_notifikasi_mengambang_ion_toast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3_dialog_konfirmasi_ion_alert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5_sakelar_tema_dinamis_dark_light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5_layout_grid_form/slide_17_solusi_tugas_2_portal_ktm_registrasi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05 ✦</a:t>
            </a:r>
          </a:p>
          <a:p>
            <a:pPr>
              <a:spcAft>
                <a:spcPts val="1400"/>
              </a:spcAft>
              <a:defRPr sz="2600" b="1">
                <a:solidFill>
                  <a:srgbClr val="000000"/>
                </a:solidFill>
                <a:latin typeface="Segoe UI"/>
              </a:defRPr>
            </a:pPr>
            <a:r>
              <a:t>LAYOUT RESPONSIF GRID, FORM REGEX, THEME &amp; TUGAS TUTORIAL 2</a:t>
            </a:r>
          </a:p>
          <a:p>
            <a:pPr>
              <a:spcAft>
                <a:spcPts val="3600"/>
              </a:spcAft>
              <a:defRPr sz="1350">
                <a:solidFill>
                  <a:srgbClr val="3C3C3C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5 • 12-Column Grid, Kontrol Formulir, Validasi Regex, Dark Mode, &amp; Evaluasi TUGAS 2 (20%)</a:t>
            </a:r>
          </a:p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SISTEM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Fondasi Tata Letak: Sistem 12-Kolom Ionic Grid Berbasis Flexbox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&lt;ion-grid&gt;: Kontainer terluar pengatur padding dan pembatas lebar.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&lt;ion-row&gt;: Baris horizontal flexbox pembungkus kolom-kolom.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&lt;ion-col size='1..12'&gt;: Sel penampung dengan ukuran proporsional.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Total lebar satu baris selalu berjumlah tepat 12 unit kolom.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Otomatis membungkus (wrap) ke baris baru jika akumulasi melebihi 12 unit.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size='6' untuk membagi dua form input secara seimbang pada baris yang sama.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slide_02_konsep_12_kolom_ion_grid.html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&lt;ion-grid&gt;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Baris 1: 2 Kolom Seimbang (size="6" = 50%)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&lt;ion-row&gt;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&lt;ion-col size="6"&gt;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&lt;ion-input label="NIM Mahasiswa"&gt;&lt;/ion-input&gt;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&lt;/ion-col&gt;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&lt;ion-col size="6"&gt;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&lt;ion-input label="Nama Lengkap"&gt;&lt;/ion-input&gt;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&lt;/ion-col&gt;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&lt;/ion-row&gt;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&lt;/ion-grid&gt;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(slide_02_konsep_12_kolom_ion_grid.html)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RESPONSIVITAS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Tata Letak Responsif: Titik Henti Breakpoints Layar Ponsel vs Tablet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LAYAR PONSEL PORTRAIT (SIZE='12')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Ruang layar horizontal sempit (&lt; 576px).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Setiap kolom membentang 100% penuh (size='12').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Elemen formulir tersusun menumpuk ke bawah secara linear.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Sangat nyaman dijangkau dan diisi oleh jempol tangan satu pengguna.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Mencegah teks label dan tombol terpotong atau saling tumpang-tindih.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LAYAR TABLET / LANDSCAPE (SIZE-MD='6')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Ruang layar horizontal luas (≥ 768px).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Kolom otomatis membelah 50% berdampingan (size-md='6').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Memanfaatkan ruang kosong tablet secara efisien dan seimbang.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Satu basis kode template tanpa perlu menulis media query CSS manual!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Transisi mulus saat ponsel diputar mendatar secara real-time.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PRESISI POSISI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Presisi Tata Letak: Perataan (Alignment) &amp; Offset Centering Kolom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offset='N': Menggeser posisi kolom ke kanan sebanyak N unit.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Rumus Centering Kartu: offset = (12 - size) / 2. Contoh: size='8' offset='2'.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class='ion-justify-content-center': Meratakan kolom ke tengah horizontal.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class='ion-align-items-center': Menyamakan titik tengah vertikal antar kolom.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Menghasilkan kartu formulir login yang terpusat simetris di tablet.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kombinasi size-md='8' dan ion-justify-content-center agar form tidak terlalu melebar di desktop.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slide_04_alignment_dan_offset_grid.html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&lt;ion-grid&gt;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Kartu Formulir Terpusat Sempurna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&lt;ion-row class="ion-justify-content-center"&gt;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&lt;ion-col size="12" size-md="8" size-lg="6"&gt;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&lt;ion-card&gt;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&lt;ion-card-title&gt;Login Layanan UT&lt;/ion-card-title&gt;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&lt;/ion-card-header&gt;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&lt;ion-card-content&gt;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  &lt;!-- Input fields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&lt;/ion-card-content&gt;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&lt;/ion-card&gt;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&lt;/ion-col&gt;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&lt;/ion-row&gt;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&lt;/ion-grid&gt;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(slide_04_alignment_dan_offset_grid.html)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KONTROL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Kontrol Masukan Modern: Floating Label &amp; Numeric Keypad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label-placement='floating': Label melayang ke atas saat kolom disentuh.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inputmode='numeric': Memerintahkan ponsel memunculkan keyboard angka khusus.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:clear-input='true': Ikon silang instan untuk menghapus teks masukan.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helper-text &amp; error-text: Menampilkan instruksi dan status kesalahan.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krusial untuk masukan data NIM mahasiswa tanpa salah ketik.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sertakan inputmode='numeric' pada kolom NIM untuk kenyamanan jempol mahasiswa!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slide_05_kontrol_input_teks_ion_input.html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&lt;ion-input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label="Nomor Induk Mahasiswa (NIM)"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label-placement="floating"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fill="outline"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inputmode="numeric"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maxlength="9"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:clear-input="true"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v-model="form.nim"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helper-text="Wajib 9 digit angka resmi UT"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error-text="Format NIM tidak valid!"&gt;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&lt;/ion-input&gt;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(slide_05_kontrol_input_teks_ion_input.html)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9776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9776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DROPDOWN &amp; TEXTAREA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Masukan Lanjutan: &lt;ion-select&gt; (Action-Sheet) &amp; &lt;ion-textarea&gt;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interface='action-sheet': Menu pilihan muncul dari dasar layar (thumb-friendly).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&lt;ion-select-option&gt;: Elemen daftar program studi FST Universitas Terbuka.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:auto-grow='true': Ketinggian kotak textarea membesar otomatis mengikuti teks.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:counter='true' &amp; maxlength='200': Menghitung sisa kuota karakter alamat.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scrollbar kaku pada kolom pengisian alamat pengiriman BMP.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interface='action-sheet' untuk opsi pilihan mobile agar terasa seperti native 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slide_06_area_teks_dan_pilihan_dropdown.html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Pilihan Program Studi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&lt;ion-select label="Program Studi FST" interface="action-sheet" v-model="form.prodi"&gt;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&lt;ion-select-option value="S1 Sistem Informasi"&gt;S1 Sistem Informasi&lt;/ion-select-option&gt;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&lt;ion-select-option value="S1 Informatika"&gt;S1 Informatika&lt;/ion-select-option&gt;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&lt;/ion-select&gt;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Alamat Domisili Auto-Grow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&lt;ion-textarea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label="Alamat Pengiriman BMP"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:auto-grow="true"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:counter="true"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maxlength="200"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v-model="form.alamat"&gt;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&lt;/ion-textarea&gt;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(slide_06_area_teks_dan_pilihan_dropdown.html)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KONTROL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Kontrol Pilihan: ion-toggle, ion-checkbox, &amp; ion-radio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&lt;ion-toggle&gt;: Sakelar biner on/off instan (Dark Mode switch, notifikasi).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&lt;ion-checkbox&gt;: Pilihan majemuk centang (fakta integritas akademik).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&lt;ion-radio-group&gt;: Pilihan tunggal mutlak eksklusif (jalur registrasi kuliah).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Atribut justify='space-between': Meratakan label ke kiri dan kontrol ke kanan.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Menyajikan alur formulir yang terstruktur dan mudah diverifikasi.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ion-radio-group jika hanya ada SATU skema layanan yang boleh dipilih mahasiswa.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slide_07_sakelar_toggle_checkbox_radio.html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Sakelar Boolean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&lt;ion-toggle v-model="isDark" justify="space-between"&gt;Mode Gelap&lt;/ion-toggle&gt;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Radio Group Pilihan Jalur Registrasi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&lt;ion-radio-group v-model="skema"&gt;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&lt;ion-item&gt;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&lt;ion-radio value="sipas_non_ttm" justify="space-between"&gt;SIPAS Non-TTM&lt;/ion-radio&gt;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&lt;/ion-item&gt;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&lt;ion-item&gt;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&lt;ion-radio value="sipas_semi" justify="space-between"&gt;SIPAS Semi&lt;/ion-radio&gt;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&lt;/ion-item&gt;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&lt;/ion-radio-group&gt;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(slide_07_sakelar_toggle_checkbox_radio.html)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KALENDER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Pemilih Kalender Modern: Komponen &lt;ion-datetime&gt; (id-ID)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locale='id-ID': Nama hari dan bulan otomatis dalam Bahasa Indonesia.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presentation='date': Kalender pemilih tanggal tanpa tampilan jam menit.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min='1970-01-01' &amp; max='2008-12-31': Membatasi tahun lahir yang sah.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Format standar ISO 8601 (YYYY-MM-DD) yang aman dikirim ke database.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typo kesalahan penulisan tanggal lahir oleh mahasiswa.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pasang batas 'max' untuk memastikan usia pendaftar memenuhi syarat perkuliahan.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slide_08_pemilih_tanggal_ion_datetime.html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&lt;ion-datetime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locale="id-ID"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presentation="date"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min="1970-01-01"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max="2008-12-31"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v-model="tanggalLahir"&gt;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&lt;span slot="title"&gt;Pilih Tanggal Lahir Mahasiswa&lt;/span&gt;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&lt;/ion-datetime&gt;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(slide_08_pemilih_tanggal_ion_datetime.html)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PRINSIP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Prinsip Validasi Reaktif: Dirty, Touched, &amp; Umpan Balik Instan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Pristine: Kolom belum pernah diedit. Jangan tampilkan pesan error!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Dirty: Pengguna mulai mengetik karakter masukan.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Touched: Kursor keluar dari input (@ion-blur).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Tampilkan error HANYA jika kolom sudah 'touched' dan datanya 'invalid'.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pengalaman buruk pengguna (UX) yang disambut teks merah sebelum mengetik.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event @ion-blur untuk menandai kolom input sebagai 'touched'.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slide_09_prinsip_validasi_reaktif_form.html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nama = ref('');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isTouched = ref(false);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isValid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nama.value.trim().length &gt;= 3;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showError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Hanya tampilkan jika sudah disentuh &amp; datanya tidak valid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isTouched.value &amp;&amp; !isValid.value;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(slide_09_prinsip_validasi_reaktif_form.html)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VALIDASI NIM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Validasi Pola Regex: Penegakan Format Tepat 9 Digit NIM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Formula Resmi: /^[0-9]{9}$/ atau /^\d{9}$/.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^ dan $: Mengunci awal dan akhir string tanpa celah spasi.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[0-9]: Menolak huruf alfabet, simbol, dan tanda baca.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{9}: Memastikan panjang angka PERSIS sembilan karakter.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Metode .test(): Mengembalikan nilai boolean true/false seketika.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Jangan hanya mengecek length == 9, gunakan regex agar huruf tidak lolos!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slide_10_validasi_regex_nim_9_digit.html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Validator Resmi NIM Universitas Terbuka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REGEX_NIM_UT = /^[0-9]{9}$/;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const validasiNIM = (nim: string): boolean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REGEX_NIM_UT.test(nim.trim());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Contoh Hasil Evaluasi: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'043123456'  -&gt; true  (Valid 9 digit)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'04312345'   -&gt; false (Kurang digit)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'04312345A'  -&gt; false (Ada huruf)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(slide_10_validasi_regex_nim_9_digit.html)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VALIDASI SUREL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Validasi Pola Regex: Domain Resmi @ecampus.ut.ac.id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Formula: /^[a-zA-Z0-9._%+-]+@ecampus\.ut\.ac\.id$/.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[a-zA-Z0-9._%+-]+: Karakter alfanumerik nama pengguna (username).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@ecampus: Simbol keong wajib diikuti nama subdomain resmi.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\.ut\.ac\.id$: Tanda titik wajib di-escape (\.) agar tidak menjadi wildcard!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Menolak pendaftaran menggunakan email luar seperti Gmail atau Yahoo.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Selalu lakukan .toLowerCase() sebelum validasi regex email dilakukan.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slide_11_validasi_regex_email_ecampus_ut.html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Validator Resmi Surel Mahasiswa UT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REGEX_EMAIL_UT = /^[a-zA-Z0-9._%+-]+@ecampus\.ut\.ac\.id$/;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const validasiEmailUT = (email: string): boolean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REGEX_EMAIL_UT.test(email.trim().toLowerCase());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Contoh: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'budi@ecampus.ut.ac.id' -&gt; true  (Sah)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'budi@gmail.com'          -&gt; false (Bukan kampus)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(slide_11_validasi_regex_email_ecampus_ut.html)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NOTIFIKASI TOAST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Umpan Balik Halus: Notifikasi Mengambang &lt;ion-toast&gt;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&lt;ion-toast&gt;: Pesan pop-up melayang anggun di bagian bawah layar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:duration='3000': Menghilang otomatis setelah 3 detik tanpa memblokir UI.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color='success | danger | warning': Memberikan indikator status visual.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position='bottom': Posisi alami yang sangat ramah bagi jempol pengguna.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Alternatif modern pengganti window.alert() browser yang kaku.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color='success' untuk pendaftaran berhasil dan color='danger' saat form belum valid.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slide_12_notifikasi_mengambang_ion_toast.html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&lt;ion-toast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:is-open="toastOpen"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:message="toastPesan"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:color="toastWarna"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:duration="3000"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position="bottom"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@didDismiss="toastOpen = false"&gt;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&lt;/ion-toast&gt;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Logika Pemanggilan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tampilkanToast = (warna: string, pesan: string)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toastWarna.value = warna;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toastPesan.value = pesan;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toastOpen.value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(slide_12_notifikasi_mengambang_ion_toast.html)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KONFIRMASI ALERT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Konfirmasi Krusial: Kotak Dialog Modal &lt;ion-alert&gt;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&lt;ion-alert&gt;: Kotak dialog modal untuk verifikasi dua langkah (Two-Tier).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kesalahan submit formulir atau penerbitan berkas permanen.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Array :buttons: Konfigurasi tombol 'Batal' (cancel) dan 'Ya, Kirim' (confirm).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Fungsi handler(): Callback aksi yang dieksekusi saat konfirmasi ditekan.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Menampilkan ringkasan NIM &amp; Nama sebelum pendaftaran resmi dikirim.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role: 'cancel' agar tombol pembatalan memiliki gaya visual netral.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slide_13_dialog_konfirmasi_ion_alert.html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&lt;ion-alert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:is-open="alertOpen"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header="Konfirmasi Pendaftaran"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sub-header="Penerbitan KTM Digital UT"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:message="`Yakin ingin menerbitkan KTM untuk NIM ${nim}?`"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:buttons="alertButtons"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@didDismiss="alertOpen = false"&gt;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&lt;/ion-alert&gt;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alertButtons = 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text: 'Periksa Kembali', role: 'cancel'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text: 'Ya, Terbitkan', handler: () =&gt; prosesSubmit()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(slide_13_dialog_konfirmasi_ion_alert.html)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ARSITEKTUR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Theming: CSS Variables &amp; Sistem Pewarnaan Dinamis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VARIABEL CSS GLOBAL IONIC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--ion-background-color: Mengendalikan warna latar seluruh layar.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--ion-text-color: Mengendalikan kontras tipografi teks utama.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--ion-card-background: Mengendalikan elevasi latar komponen kartu.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Warna gelap OLED (#121212) mengurangi ketegangan mata mahasiswa.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Standar W3C Web Components yang dapat dimanipulasi tanpa reload.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MEKANISME DETEKSI &amp; PENGAKTIFAN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6888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@media (prefers-color-scheme: dark): Mengikuti preferensi OS ponsel.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Kelas body.dark: Pemicu perubahan tema secara manual via tombol switch.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Kontras rasio memenuhi standar aksesibilitas WCAG AA (min 4.5:1).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Penyimpanan ke LocalStorage agar preferensi tidak ter-reset saat refresh.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■  Kriteria penilaian wajib berbobot 20 poin pada Tugas Tutorial 2!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SAKELAR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Peralihan Tema Real-Time: Sakelar Dark/Light Mode &amp; LocalStorage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&lt;ion-toggle&gt;: Ditempatkan di toolbar atas aplikasi 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document.body.classList.toggle('dark', isDark): Mengubah tema instan.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localStorage.setItem('theme', 'dark'): Menyimpan preferensi pengguna.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Hook onMounted(): Membaca tema tersimpan saat aplikasi dibuka kembali.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Seluruh kartu, form input, dan tombol menyesuaikan warna seketika.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Pastikan kelas .dark diinjeksikan langsung ke tag &lt;body&gt; atau &lt;html&gt; terluar.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slide_15_sakelar_tema_dinamis_dark_light.html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isDark = ref(false);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toggleTheme = (ev: CustomEvent)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isDark.value = ev.detail.checked;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document.body.classList.toggle('dark', isDark.value);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localStorage.setItem('theme_ut', isDark.value ? 'dark' : 'light');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onMounted(()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saved = localStorage.getItem('theme_ut');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(saved === 'dark')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isDark.value = true;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document.body.classList.add('dark');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(slide_15_sakelar_tema_dinamis_dark_light.html)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RUBRIK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Pedoman &amp; Rubrik Penilaian Resmi TUGAS TUTORIAL 2 (Skor: 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• 25 POIN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Struktur UI Resmi Ionic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Implementasi ion-page, ion-grid, ion-card, ion-input, ion-select dengan tata letak thumb-friendly dan responsif.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• 35 POIN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402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Validasi Form Regex Presisi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NIM tepat 9 digit angka (/^[0-9]{9}$/) dan email kampus (@ecampus.ut.ac.id) dicegah dengan pola regular expression akurat.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409651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02336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206240"/>
            <a:ext cx="164592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06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• 20 POIN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Umpan Balik Toast &amp; Alert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Dialog konfirmasi modal sebelum submit (ion-alert) dan notifikasi melayang status pendaftaran (ion-toast).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409651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402336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4206240"/>
            <a:ext cx="164592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4206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BOBOT • 20 POIN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6177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Dark Mode &amp; Video Demo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Sakelar tema gelap-terang berfungsi mulus, preview KTM digital reaktif, dan link video YouTube 3-5 menit disertakan.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🎯 Master Solusi Tugas Tutorial 2: Portal Layanan &amp; KTM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LOGIKA VALIDASI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Integrasi menyeluruh: Form registrasi dengan validasi Regex interaktif.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Kartu KTM Digital Reaktif: Avatar DiceBear terisi otomatis berdasarkan NIM!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Dialog konfirmasi ion-alert sebelum submit data pendaftaran.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Umpan balik ion-toast notifikasi keberhasilan penerbitan KTM.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dijalankan langsung dengan klik dua kali tanpa instalasi CLI berat!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berkas slide_17_solusi_tugas_2_portal_ktm_registrasi.html sebagai acuan pengerjaan tugas Anda!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7373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Consolas"/>
              </a:defRPr>
            </a:pPr>
            <a:r>
              <a:t>// BERKAS KODE MANDIRI: slide_17_solusi_tugas_2_portal_ktm_registrasi.html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Cuplikan Master Solusi Tugas Tutorial 2 --&gt;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class="phone-mockup" :class="{ 'dark-theme': isDark }"&gt;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Toolbar dengan Sakelar Dark Mode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&lt;ion-toolbar color="primary"&gt;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&lt;ion-title&gt;Layanan Mandiri UT&lt;/ion-title&gt;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&lt;ion-buttons slot="end"&gt;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&lt;ion-button @click="isDark = !isDark"&gt;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  &lt;ion-icon :name="isDark ? 'sunny' : 'moon'"&gt;&lt;/ion-icon&gt;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  &lt;/ion-button&gt;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&lt;/ion-buttons&gt;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&lt;/ion-toolbar&gt;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&lt;!-- Form Validasi NIM &amp; Pratinjau KTM Digital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▶ KLIK UNTUK MEMBUKA KODE LENGKAP (slide_17_solusi_tugas_2_portal_ktm_registrasi.html)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ROADMAP SESI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Jembatan Sesi 06: Capacitor Runtime Bridge &amp; Android Studio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1 • 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Arsitektur Capacitor Bridge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Menghubungkan kode web HTML/Vue dengan sistem operasi native Android melalui bridge runtime modern.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0975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2 •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0975" y="22402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Android Studio &amp; Gradle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Membuka folder android/, mengonfigurasi build.gradle, dan mengatur target SDK versi terbaru.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409651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02336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206240"/>
            <a:ext cx="164592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06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3 • IZIN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177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AndroidManifest Permissions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Mengonfigurasi hak akses perangkat: izin kamera, penyimpanan data, dan koneksi internet aplikasi.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1247" y="4096512"/>
            <a:ext cx="5120640" cy="2148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8095" y="4023360"/>
            <a:ext cx="5120640" cy="21488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30975" y="4206240"/>
            <a:ext cx="164592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0975" y="4206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PILAR 4 •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461772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Pengujian Fisik via scrcpy</a:t>
            </a:r>
          </a:p>
          <a:p>
            <a:pPr>
              <a:defRPr sz="950">
                <a:solidFill>
                  <a:srgbClr val="282828"/>
                </a:solidFill>
                <a:latin typeface="Segoe UI"/>
              </a:defRPr>
            </a:pPr>
            <a:r>
              <a:t>Solusi hemat RAM (4-8GB friendly): Menjalankan aplikasi langsung di smartphone fisik via USB Debugging!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