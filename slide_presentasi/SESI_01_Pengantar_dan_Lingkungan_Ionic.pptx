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1_kontrak_dan_roadmap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2_relevansi_mobile_hybrid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3_komparasi_arsitektur_mobil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4_ekosistem_ionic_web_standards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5_panduan_instalasi_tools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6_diagnostik_environment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7_anatomi_hybrid_app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8_hello_hybrid_app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09_chrome_device_toolbar_guide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0_viewport_meta_scaling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1_ionic_cli_simulator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2_struktur_folder_proyek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3_usb_debugging_scrcpy_guide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4_hmr_live_reload_demo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5_troubleshooting_powershell_cli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6_cheatsheet_terminal_git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7_lab_quest_01_profil_mahasiswa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1_lingkungan_dan_tools/slide_18_preview_sesi_02_vue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097280"/>
            <a:ext cx="9601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01 ✦</a:t>
            </a:r>
          </a:p>
          <a:p>
            <a:pPr>
              <a:spcAft>
                <a:spcPts val="1000"/>
              </a:spcAft>
              <a:defRPr sz="2600" b="1">
                <a:solidFill>
                  <a:srgbClr val="000000"/>
                </a:solidFill>
                <a:latin typeface="Segoe UI"/>
              </a:defRPr>
            </a:pPr>
            <a:r>
              <a:t>PENGENALAN LINGKUNGAN PENGEMBANGAN</a:t>
            </a:r>
            <a:br/>
            <a:r>
              <a:t>APLIKASI PIRANTI BERGERAK</a:t>
            </a:r>
          </a:p>
          <a:p>
            <a:pPr>
              <a:spcAft>
                <a:spcPts val="2200"/>
              </a:spcAft>
              <a:defRPr sz="1300">
                <a:solidFill>
                  <a:srgbClr val="3C3C3C"/>
                </a:solidFill>
                <a:latin typeface="Segoe UI"/>
              </a:defRPr>
            </a:pPr>
            <a:r>
              <a:t>Evolusi Mobile Hybrid, Setup Node.js &amp; Git, serta Zero-Friction Lab Lingkungan Kerja</a:t>
            </a:r>
          </a:p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• Program Studi S1 Sistem Informasi / Informatika  ■  FAKULTAS SAINS DAN TEKNOLOGI • UNIVERSITAS TERBUKA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16736" y="5111496"/>
            <a:ext cx="9601200" cy="6217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0" y="5074920"/>
            <a:ext cx="9601200" cy="621792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111496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KONTRAK KULIAH, ROADMAP 8 SESI &amp; KALKULATOR NILAI (slide_01_kontrak_dan_roadmap.html)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Klik ganda berkas HTML untuk simulasi nilai 50% Tuton + 50% UAS interaktif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RELEVANSI INDUSTRI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Industri &amp; Universitas Terbuka Memilih Hybrid?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Mahasiswa UT tersebar di seluruh Indonesia dengan ribuan variasi ponsel.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Pendekatan Native murni mewajibkan 2 tim terpisah (Kotlin &amp; Swift).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Pendekatan Hybrid cukup 1 basis kode web standar (HTML, CSS, TS, Vue).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Efisiensi waktu dan biaya mencapai ~66% lebih hemat dan cepat rilis.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didistribusikan ke Web (PWA), Google Play Store, dan Apple App Store.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Fokus pada penguasaan Web Standards membuka peluang karir di web maupun mobile!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slide_02_relevansi_mobile_hybrid.html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Kalkulasi Penghematan Waktu &amp; Sumber Daya:</a:t>
            </a:r>
            <a:br/>
            <a:r>
              <a:t>const timNative = {</a:t>
            </a:r>
            <a:br/>
            <a:r>
              <a:t>  androidKotlin: '1 Orang Developer',</a:t>
            </a:r>
            <a:br/>
            <a:r>
              <a:t>  iosSwift:      '1 Orang Developer',</a:t>
            </a:r>
            <a:br/>
            <a:r>
              <a:t>  webPortal:     '1 Orang Developer'</a:t>
            </a:r>
            <a:br/>
            <a:r>
              <a:t>}; // Total: 3 Basis Kode Terpisah!</a:t>
            </a:r>
            <a:br/>
            <a:br/>
            <a:r>
              <a:t>const timHybridIonic = {</a:t>
            </a:r>
            <a:br/>
            <a:r>
              <a:t>  singleCodebase: '1 Orang Menguasai Web Standard'</a:t>
            </a:r>
            <a:br/>
            <a:r>
              <a:t>}; // 1 Kode untuk Android, iOS, &amp; Web PWA!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(slide_02_relevansi_mobile_hybrid.html)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Komparasi Tiga Arsitektur: Native vs Hybrid vs Cross-Platform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Native (Kotlin/Swift): Akses hardware langsung, performa grafis 3D tinggi.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Hybrid (Ionic + Capacitor): Dibungkus dalam WebView native berkinerja tinggi.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Cross-Platform (Flutter): Menggambar piksel sendiri via engine grafis C++.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Untuk aplikasi data, akademik, dan formulir, Hybrid adalah raja efisiensi.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Akses hardware dijembatani oleh Capacitor Runtime (Camera, GPS, Storage).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Ionic Framework menghilangkan keharusan belajar bahasa native baru dari awal.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slide_03_komparasi_arsitektur_mobile.html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      APLIKASI WEB (VUE 3 + TYPESCRIPT)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JEMBATAN RUNTIME (CAPACITOR NATIVE PLUGINS)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SISTEM OPERASI SMARTPHONE (ANDROID / IOS)    │</a:t>
            </a:r>
            <a:br/>
            <a:r>
              <a:t>└─────────────────────────────────────────────────┘</a:t>
            </a:r>
            <a:br/>
            <a:r>
              <a:t>*Satu lapis web yang berdaya guna di semua sistem operasi.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(slide_03_komparasi_arsitektur_mobile.html)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EKOSISTEM IONIC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Web Components Bawaan Ionic: Desain Mobile Siap Pakai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Tidak perlu merancang tombol, kartu, atau header dari nol.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Komponen Ionic sudah mengadaptasi standar Material Design (Android).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Dapat dijalankan secara instan via CDN tanpa instalasi apa pun di awal.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menyisipkan script @ionic/core di berkas HTML.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ramah bagi mahasiswa dengan laptop spesifikasi RAM 4GB.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Klik ganda file HTML mandiri ini untuk langsung melihat tampilan di Google Chrome!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slide_04_ekosistem_ionic_web_standards.html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Cukup tautkan CDN resmi Ionic di berkas HTML --&gt;</a:t>
            </a:r>
            <a:br/>
            <a:r>
              <a:t>&lt;script type="module" </a:t>
            </a:r>
            <a:br/>
            <a:r>
              <a:t>  src="https://cdn.jsdelivr.net/npm/@ionic/core/dist/ionic/ionic.esm.js"&gt;</a:t>
            </a:r>
            <a:br/>
            <a:r>
              <a:t>&lt;/script&gt;</a:t>
            </a:r>
            <a:br/>
            <a:r>
              <a:t>&lt;link rel="stylesheet" </a:t>
            </a:r>
            <a:br/>
            <a:r>
              <a:t>  href="https://cdn.jsdelivr.net/npm/@ionic/core/css/ionic.bundle.css" /&gt;</a:t>
            </a:r>
            <a:br/>
            <a:br/>
            <a:r>
              <a:t>&lt;!-- Gunakan komponen siap pakai khas mobile --&gt;</a:t>
            </a:r>
            <a:br/>
            <a:r>
              <a:t>&lt;ion-app&gt;</a:t>
            </a:r>
            <a:br/>
            <a:r>
              <a:t>  &lt;ion-card&gt;</a:t>
            </a:r>
            <a:br/>
            <a:r>
              <a:t>    &lt;ion-card-header&gt;</a:t>
            </a:r>
            <a:br/>
            <a:r>
              <a:t>      &lt;ion-card-title&gt;Portal Mahasiswa UT&lt;/ion-card-title&gt;</a:t>
            </a:r>
            <a:br/>
            <a:r>
              <a:t>    &lt;/ion-card-header&gt;</a:t>
            </a:r>
            <a:br/>
            <a:r>
              <a:t>    &lt;ion-button expand="block"&gt;Sentuh Saya&lt;/ion-button&gt;</a:t>
            </a:r>
            <a:br/>
            <a:r>
              <a:t>  &lt;/ion-card&gt;</a:t>
            </a:r>
            <a:br/>
            <a:r>
              <a:t>&lt;/ion-app&gt;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(slide_04_ekosistem_ionic_web_standards.html)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PENYIAPAN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Panduan Alat Tempur Pengembang Mobile di Komputer Lokal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Node.js LTS (v20.x/v22.x): Mesin runtime JavaScript untuk menjalankan tools.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NPM (Node Package Manager): Pengelola paket pustaka otomatis.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SCM: Sistem kendali versi untuk mencatat revisi dan mengumpulkan tugas.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VS Code: Editor kode ringan dengan ekstensi resmi Vue &amp; Ionic.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Google Chrome / Edge: Media uji coba antarmuka mobile paling ringan.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Hindari menginstal Node.js versi 'Current/Bleeding Edge', pilih selalu versi 'LTS'.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slide_05_panduan_instalasi_tools.html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1. Unduh dan pasang Node.js LTS dari:</a:t>
            </a:r>
            <a:br/>
            <a:r>
              <a:t># https://nodejs.org/ (Pilih versi Recommended for Most Users)</a:t>
            </a:r>
            <a:br/>
            <a:br/>
            <a:r>
              <a:t># 2. Buka Terminal / PowerShell di VS Code lalu ketik:</a:t>
            </a:r>
            <a:br/>
            <a:r>
              <a:t>node -v</a:t>
            </a:r>
            <a:br/>
            <a:r>
              <a:t>npm -v</a:t>
            </a:r>
            <a:br/>
            <a:r>
              <a:t>git --version</a:t>
            </a:r>
            <a:br/>
            <a:br/>
            <a:r>
              <a:t># 3. Pasang ekstensi wajib di VS Code:</a:t>
            </a:r>
            <a:br/>
            <a:r>
              <a:t># • Vue - Official (Syntax highlight Vue 3)</a:t>
            </a:r>
            <a:br/>
            <a:r>
              <a:t># • Ionic (Snippet komponen Ionic)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(slide_05_panduan_instalasi_tools.html)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UJI DIAGNOSTIK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Skrip Diagnostik Otomatis Pemeriksa Kesiapan Sistem &amp; 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Skrip mandiri buatan dosen untuk memeriksa kesiapan komputer Anda.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Mendeteksi versi Node.js, NPM, Git, serta kapasitas memori RAM fisik.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Memberikan rekomendasi jalur praktikum yang aman (Jalur A, B, atau C).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Mencegah laptop freeze karena beban kerja yang berlebihan.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Cukup jalankan satu baris perintah di terminal VS Code.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Buka berkas HTML di browser atau jalankan via terminal untuk memastikan kesiapan laptop.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slide_06_diagnostik_environment.html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Jalankan skrip diagnostik mandiri:</a:t>
            </a:r>
            <a:br/>
            <a:r>
              <a:t>// node slide_06_diagnostik_environment.js</a:t>
            </a:r>
            <a:br/>
            <a:br/>
            <a:r>
              <a:t>const os = require('os');</a:t>
            </a:r>
            <a:br/>
            <a:r>
              <a:t>const ramGB = (os.totalmem() / (1024 ** 3)).toFixed(2);</a:t>
            </a:r>
            <a:br/>
            <a:br/>
            <a:r>
              <a:t>console.log(`🖥️  Sistem Operasi : ${os.type()}`);</a:t>
            </a:r>
            <a:br/>
            <a:r>
              <a:t>console.log(`💾 Kapasitas RAM   : ${ramGB} GB`);</a:t>
            </a:r>
            <a:br/>
            <a:br/>
            <a:r>
              <a:t>if (ramGB &lt; 6) {</a:t>
            </a:r>
            <a:br/>
            <a:r>
              <a:t>  console.log('👉 Jalur A: Web Preview Standalone (Aman RAM 4GB)');</a:t>
            </a:r>
            <a:br/>
            <a:r>
              <a:t>} else {</a:t>
            </a:r>
            <a:br/>
            <a:r>
              <a:t>  console.log('👉 Jalur B: USB Debugging HP Fisik + scrcpy');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(slide_06_diagnostik_environment.html)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ANATOMI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Tritunggal Web: HTML (Tulang), CSS (Baju) &amp; JavaScript (Saraf)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HTML: Membentuk elemen struktur (tombol, teks judul, kontainer kartu).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CSS: Mengatur dimensi layar ponsel, sudut melengkung, dan warna biru UT.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JavaScript: Menangani sentuhan jari (*touch event*) dan logika bisnis.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Dalam arsitektur hybrid, ketiga elemen ini dibungkus menjadi paket mobile.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Tersedia fitur interaktif untuk mematikan/menyalakan CSS pada file contoh.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Coba matikan CSS pada file contoh ini untuk melihat pentingnya peran styling mobile.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slide_07_anatomi_hybrid_app.html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Struktur (Tulang) --&gt;</a:t>
            </a:r>
            <a:br/>
            <a:r>
              <a:t>&lt;div class="card-profil"&gt;</a:t>
            </a:r>
            <a:br/>
            <a:r>
              <a:t>  &lt;h3&gt;Budi Santoso&lt;/h3&gt;</a:t>
            </a:r>
            <a:br/>
            <a:r>
              <a:t>  &lt;p&gt;NIM: 041234567 • Sistem Informasi&lt;/p&gt;</a:t>
            </a:r>
            <a:br/>
            <a:r>
              <a:t>  &lt;button id="btnAksi"&gt;Verifikasi KTM&lt;/button&gt;</a:t>
            </a:r>
            <a:br/>
            <a:r>
              <a:t>&lt;/div&gt;</a:t>
            </a:r>
            <a:br/>
            <a:br/>
            <a:r>
              <a:t>&lt;!-- Logika Interaksi (Sistem Saraf) --&gt;</a:t>
            </a:r>
            <a:br/>
            <a:r>
              <a:t>&lt;script&gt;</a:t>
            </a:r>
            <a:br/>
            <a:r>
              <a:t>  document.getElementById('btnAksi').onclick = () =&gt; {</a:t>
            </a:r>
            <a:br/>
            <a:r>
              <a:t>    alert('KTM Mahasiswa Terverifikasi Aktif!');</a:t>
            </a:r>
            <a:br/>
            <a:r>
              <a:t>  };</a:t>
            </a:r>
            <a:br/>
            <a:r>
              <a:t>&lt;/script&gt;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(slide_07_anatomi_hybrid_app.html)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805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HELLO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Hello Hybrid World: Mockup Aplikasi Mobile Pertama 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Aplikasi mandiri pertama dengan bingkai ponsel (*smartphone frame*).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Dilengkapi bar status atas (jam, indikator baterai, sinyal 4G UT).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Membaca spesifikasi resolusi layar secara dinamis menggunakan JavaScript.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Merespon sentuhan tombol dengan umpan balik visual interaktif.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Membuktikan bahwa membuat aplikasi mobile bisa dimulai dari hari pertama!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Tekan F12 lalu klik ikon ponsel di pojok kiri atas DevTools untuk pengalaman terbaik.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slide_08_hello_hybrid_app.html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Mendeteksi spesifikasi resolusi layar WebView:</a:t>
            </a:r>
            <a:br/>
            <a:r>
              <a:t>const infoLayar = {</a:t>
            </a:r>
            <a:br/>
            <a:r>
              <a:t>  lebar: window.innerWidth,</a:t>
            </a:r>
            <a:br/>
            <a:r>
              <a:t>  tinggi: window.innerHeight,</a:t>
            </a:r>
            <a:br/>
            <a:r>
              <a:t>  platform: navigator.platform</a:t>
            </a:r>
            <a:br/>
            <a:r>
              <a:t>};</a:t>
            </a:r>
            <a:br/>
            <a:br/>
            <a:r>
              <a:t>function prosesSentuh() {</a:t>
            </a:r>
            <a:br/>
            <a:r>
              <a:t>  document.getElementById('notif').innerText = </a:t>
            </a:r>
            <a:br/>
            <a:r>
              <a:t>    '🎉 Event sentuhan (Touch Event) berhasil diproses!';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(slide_08_hello_hybrid_app.html)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DEVTOOLS EMULATOR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3 Langkah Menguji Tampilan Ponsel di Google Chrome DevTools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1: Tekan tombol F12 pada keyboard untuk membuka Developer Tools.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2: Tekan kombinasi sakti Ctrl + Shift + M (Toggle Device Toolbar).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3: Pilih preset smartphone: Pixel 7, iPhone 14 Pro, atau Responsive.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Bisa menguji rotasi layar (Portrait vs Landscape) secara instan.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Konsumsi memori RAM di bawah 150MB, jauh lebih hemat dibanding emulator AVD.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fitur throttling jaringan di DevTools untuk mensimulasikan koneksi 3G pedesaan.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slide_09_chrome_device_toolbar_guide.html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Shortcut Sakti Google Chrome DevTools:</a:t>
            </a:r>
            <a:br/>
            <a:r>
              <a:t>┌───────────────────────────────────────────────┐</a:t>
            </a:r>
            <a:br/>
            <a:r>
              <a:t>│ F12              -&gt; Buka Panel Inspect Elemen │</a:t>
            </a:r>
            <a:br/>
            <a:r>
              <a:t>│ Ctrl + Shift + M -&gt; Toggle Device Toolbar     │</a:t>
            </a:r>
            <a:br/>
            <a:r>
              <a:t>│ Ctrl + Shift + C -&gt; Inspeksi Elemen Tertentu  │</a:t>
            </a:r>
            <a:br/>
            <a:r>
              <a:t>│ Ctrl + R         -&gt; Muat Ulang Halaman        │</a:t>
            </a:r>
            <a:br/>
            <a:r>
              <a:t>└───────────────────────────────────────────────┘</a:t>
            </a:r>
            <a:br/>
            <a:r>
              <a:t>*Simulasi responsif tanpa perlu memasang Android Studio!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(slide_09_chrome_device_toolbar_guide.html)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377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VIEWPORT SCALING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Peran Krusial Viewport Meta Tag: Skala Presisi 1:1 di Layar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Secara bawaan, peramban smartphone menganggap semua web selebar 980px.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Akibatnya, tanpa meta tag ini, teks dan tombol akan mengecil seperti semut!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Meta tag viewport memerintahkan smartphone menyamakan skala layar 1:1.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Atribut wajib: width=device-width dan initial-scale=1.0.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Merupakan syarat mutlak seluruh aplikasi mobile hybrid modern.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File contoh ini memiliki tombol untuk mematikan viewport dan melihat efek zoom out!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slide_10_viewport_meta_scaling.html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Baris Sakti yang Wajib Ada di Setiap Aplikasi Mobile --&gt;</a:t>
            </a:r>
            <a:br/>
            <a:r>
              <a:t>&lt;meta name="viewport" </a:t>
            </a:r>
            <a:br/>
            <a:r>
              <a:t>      content="width=device-width, initial-scale=1.0, maximum-scale=1.0, user-scalable=no"&gt;</a:t>
            </a:r>
            <a:br/>
            <a:br/>
            <a:r>
              <a:t>&lt;!-- Penjelasan Parameter: --&gt;</a:t>
            </a:r>
            <a:br/>
            <a:r>
              <a:t>&lt;!-- width=device-width  : Samakan lebar web dengan lebar fisik HP --&gt;</a:t>
            </a:r>
            <a:br/>
            <a:r>
              <a:t>&lt;!-- initial-scale=1.0   : Tampilkan skala 100% tanpa zoom out --&gt;</a:t>
            </a:r>
            <a:br/>
            <a:r>
              <a:t>&lt;!-- user-scalable=no    : Kunci skala agar tidak melar saat dicubit --&gt;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(slide_10_viewport_meta_scaling.html)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IONIC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5 Perintah Sakti Ionic CLI untuk Pengembangan Proyek Penuh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start: Mengunduh kerangka kerja awal bertema Ionic Vue 3.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cd &lt;nama-folder&gt;: Berpindah masuk ke direktori proyek sebelum mengetik perintah.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serve: Menjalankan server lokal dengan Live Reload di localhost:8100.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ionic build: Mengemas seluruh kode Vue menjadi aset web teroptimasi (dist/).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npx cap sync android: Mengirim hasil build web ke dalam proyek Android native.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Gunakan terminal VS Code terintegrasi agar tidak perlu berpindah-pindah jendela.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slide_11_ionic_cli_simulator.html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1. Buat proyek baru bertema Ionic Vue:</a:t>
            </a:r>
            <a:br/>
            <a:r>
              <a:t>ionic start myut-mobile blank --type=vue</a:t>
            </a:r>
            <a:br/>
            <a:br/>
            <a:r>
              <a:t># 2. Masuk ke folder proyek:</a:t>
            </a:r>
            <a:br/>
            <a:r>
              <a:t>cd myut-mobile</a:t>
            </a:r>
            <a:br/>
            <a:br/>
            <a:r>
              <a:t># 3. Jalankan server lokal:</a:t>
            </a:r>
            <a:br/>
            <a:r>
              <a:t>ionic serve</a:t>
            </a:r>
            <a:br/>
            <a:br/>
            <a:r>
              <a:t># 4. Hentikan server kapan saja dengan: Ctrl +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(slide_11_ionic_cli_simulator.html)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STRUKTUR FOLDER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Folder Proyek Ionic Vue: Tahu Persis di Mana Menulis Kode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src/views/: Tempat utama mahasiswa membuat tampilan layar aplikasi baru.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src/theme/variables.css: Tempat mengganti palet warna biru UT dan Dark Mode.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src/router/index.ts: Tempat mendaftarkan rute navigasi antar-halaman.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capacitor.config.json: Berkas identitas aplikasi (App ID &amp; Nama Aplikasi).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public/: Berkas aset statis seperti logo kampus UT dan favicon.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Jangan pernah mengedit berkas di dalam folder node_modules secara manual!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slide_12_struktur_folder_proyek.html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myut-app/</a:t>
            </a:r>
            <a:br/>
            <a:r>
              <a:t>├── 📁 public/               # Aset gambar &amp; ikon logo kampus</a:t>
            </a:r>
            <a:br/>
            <a:r>
              <a:t>├── 📁 src/                  # JANTUNG KODE MAHASISWA:</a:t>
            </a:r>
            <a:br/>
            <a:r>
              <a:t>│   ├── 📁 views/            # Halaman aplikasi (Home.vue, Profil.vue)</a:t>
            </a:r>
            <a:br/>
            <a:r>
              <a:t>│   ├── 📁 theme/            # variables.css (Warna Tema &amp; Dark Mode)</a:t>
            </a:r>
            <a:br/>
            <a:r>
              <a:t>│   ├── 📁 router/           # index.ts (Alur Navigasi Antar Halaman)</a:t>
            </a:r>
            <a:br/>
            <a:r>
              <a:t>│   └── 📄 App.vue           # Komponen akar pembungkus</a:t>
            </a:r>
            <a:br/>
            <a:r>
              <a:t>└── 📄 capacitor.config.json # Konfigurasi ID Android &amp; Nama Paket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(slide_12_struktur_folder_proyek.html)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577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577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HEMAT 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Pengujian HP Fisik Hemat RAM via USB Debugging &amp; scrcpy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penyelamat laptop mahasiswa: hemat RAM (konsumsi &lt; 70MB).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1: Aktifkan 'Opsi Pengembang' dengan mengetuk Build Number 7 kali.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2: Aktifkan sakelar 'Proses Debug USB (USB Debugging)'.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3: Sambungkan kabel data USB dari smartphone ke laptop.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Langkah 4: Jalankan alat gratis scrcpy untuk menampilkan layar HP di PC.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Pastikan kabel USB mendukung transfer data, bukan kabel charger daya biasa.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slide_13_usb_debugging_scrcpy_guide.html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Alur Pengujian Smartphone Fisik:</a:t>
            </a:r>
            <a:br/>
            <a:r>
              <a:t>1. Hubungkan ponsel via kabel USB</a:t>
            </a:r>
            <a:br/>
            <a:r>
              <a:t>2. Buka aplikasi scrcpy di laptop:</a:t>
            </a:r>
            <a:br/>
            <a:r>
              <a:t>   scrcpy.exe</a:t>
            </a:r>
            <a:br/>
            <a:br/>
            <a:r>
              <a:t>3. Buka peramban di ponsel lalu ketik alamat IP laptop:</a:t>
            </a:r>
            <a:br/>
            <a:r>
              <a:t>   http://192.168.1.XX:8100</a:t>
            </a:r>
            <a:br/>
            <a:r>
              <a:t>   </a:t>
            </a:r>
            <a:br/>
            <a:r>
              <a:t>*Hasil: Aplikasi berjalan langsung di hardware HP asli 60 FPS!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(slide_13_usb_debugging_scrcpy_guide.html)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8059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8059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LIVE RELOAD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Bagaimana Hot Module Replacement (HMR) Membuat Koding Menyenangkan?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Tradisional: Ubah kode -&gt; Kompilasi 2 menit -&gt; Pasang ulang APK -&gt; Uji coba.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Modern (Ionic + Vite HMR): Ubah kode -&gt; Tekan Ctrl+S -&gt; Layar terupdate &lt; 0.5 detik!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Status data di formulir tidak terhapus saat pembaruan komponen terjadi.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Sangat mempercepat proses belajar dan eksperimen logika antarmuka.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Menghilangkan rasa bosan menunggu proses kompilasi yang lama.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Simpan perubahan kode dengan Ctrl+S secara berkala untuk memicu Live Reload.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slide_14_hmr_live_reload_demo.html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Logika Pembaruan Instan Vite Engine:</a:t>
            </a:r>
            <a:br/>
            <a:r>
              <a:t>// 1. Vite mendeteksi berkas file.vue mengalami perubahan</a:t>
            </a:r>
            <a:br/>
            <a:r>
              <a:t>// 2. Mengirim sinyal WebSocket ke browser: 'update component'</a:t>
            </a:r>
            <a:br/>
            <a:r>
              <a:t>// 3. Browser mengganti modul yang berubah tanpa me-refresh halaman!</a:t>
            </a:r>
            <a:br/>
            <a:br/>
            <a:r>
              <a:t>// Hasil: Angka counter formulir tetap utuh, </a:t>
            </a:r>
            <a:br/>
            <a:r>
              <a:t>// sementara warna latar belakang berubah seketika!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(slide_14_hmr_live_reload_demo.html)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FIRST-AID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Pertolongan Pertama: Mengatasi Galat Kebijakan PowerShell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Pesan Error: 'File ... cannot be loaded because running scripts is disabled'.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Penyebab: Proteksi default keamanan sistem operasi Windows terhadap skrip otomatis.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Solusi Cepat: Buka terminal PowerShell lalu jalankan perintah Set-ExecutionPolicy.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Alternatif Tanpa Pengaturan: Gunakan terminal Git Bash di VS Code.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Ingat: Error ini bukan tanda kegagalan atau kerusakan pada laptop Anda!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Jika ragu mengubah izin Windows, cukup pilih Git Bash sebagai terminal default Anda.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slide_15_troubleshooting_powershell_cli.html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Solusi 1 Langkah Tuntas di Terminal PowerShell:</a:t>
            </a:r>
            <a:br/>
            <a:r>
              <a:t>Set-ExecutionPolicy -Scope CurrentUser -ExecutionPolicy RemoteSigned</a:t>
            </a:r>
            <a:br/>
            <a:br/>
            <a:r>
              <a:t># Tekan Enter, lalu ketik huruf 'Y' untuk konfirmasi.</a:t>
            </a:r>
            <a:br/>
            <a:r>
              <a:t># Setelah itu coba ketik kembali:</a:t>
            </a:r>
            <a:br/>
            <a:r>
              <a:t>ionic -v</a:t>
            </a:r>
            <a:br/>
            <a:br/>
            <a:r>
              <a:t># Selesai! Versi Ionic CLI akan tampil normal.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(slide_15_troubleshooting_powershell_cli.html)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1691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16916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1691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CHEATSHEET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Cheatsheet Perintah Terminal &amp; Git untuk Tugas Kuliah Mahasiswa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Navigasi: cd (pindah folder), cd .. (naik 1 tingkat), dir/ls (lihat isi folder).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Status: Memeriksa berkas apa saja yang baru selesai Anda koding.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Add &amp; Commit: Menyimpan catatan riwayat pengerjaan tugas mandiri.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Git Push: Mengirimkan berkas ke akun GitHub pribadi untuk dinilai tutor.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Gunakan tombol TAB pada keyboard untuk auto-complete nama folder tanpa typo!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Biasakan membuat commit dengan pesan yang jelas agar memudahkan pelacakan bug.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slide_16_cheatsheet_terminal_git.html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# Alur Standar Pengumpulan Tugas Praktik di Git:</a:t>
            </a:r>
            <a:br/>
            <a:r>
              <a:t>git status                  # 1. Cek perubahan berkas</a:t>
            </a:r>
            <a:br/>
            <a:r>
              <a:t>git add .                   # 2. Tandai seluruh berkas</a:t>
            </a:r>
            <a:br/>
            <a:r>
              <a:t>git commit -m "tugas 1"     # 3. Simpan riwayat revisi</a:t>
            </a:r>
            <a:br/>
            <a:r>
              <a:t>git push origin main        # 4. Kirim ke repositori online</a:t>
            </a:r>
            <a:br/>
            <a:br/>
            <a:r>
              <a:t># Tips Pro: Ketik 'cd con' lalu tekan tombol TAB!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(slide_16_cheatsheet_terminal_git.html)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Sesi 01: Membangun Kartu Tanda Mahasiswa (KTM) Digital Interaktif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🎯 TANTANGAN PRAKTIKUM MANDIRI BERORIENTASI HASIL (OUTCOME-BASED)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2404872"/>
            <a:ext cx="4754880" cy="3657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7280" y="2331720"/>
            <a:ext cx="4754880" cy="3657600"/>
          </a:xfrm>
          <a:prstGeom prst="rect">
            <a:avLst/>
          </a:prstGeom>
          <a:solidFill>
            <a:srgbClr val="F8FA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68880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SASARAN &amp; SKENARIO KASUS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Gunakan Web Components resmi Ionic via CDN (@ionic/core).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Tampilkan identitas mahasiswa UT: Nama, NIM 9 digit, Program Studi, &amp; Fakultas FST.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Terapkan palet warna resmi biru Universitas Terbuka (#005691).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✦  Sediakan tombol interaktif 'Verifikasi Keaslian Kartu' dengan umpan balik visual.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404872"/>
            <a:ext cx="4937760" cy="3657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4937760" cy="3657600"/>
          </a:xfrm>
          <a:prstGeom prst="rect">
            <a:avLst/>
          </a:prstGeom>
          <a:solidFill>
            <a:srgbClr val="F0FDF4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468880"/>
            <a:ext cx="4663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166534"/>
                </a:solidFill>
                <a:latin typeface="Segoe UI"/>
              </a:defRPr>
            </a:pPr>
            <a:r>
              <a:t>KRITERIA SUKSES &amp; SOLUSI MASTER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Berkas HTML mandiri dapat dibuka langsung di Google Chrome (Zero Installation).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Tampilan adaptif dan proporsional saat diuji via Device Toolbar (Ctrl+Shift+M).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Komponen ion-card, ion-list, dan ion-button tersusun rapi tanpa galat konsol.</a:t>
            </a:r>
          </a:p>
          <a:p>
            <a:pPr>
              <a:spcAft>
                <a:spcPts val="500"/>
              </a:spcAft>
              <a:defRPr sz="1050">
                <a:solidFill>
                  <a:srgbClr val="14532D"/>
                </a:solidFill>
                <a:latin typeface="Segoe UI"/>
              </a:defRPr>
            </a:pPr>
            <a:r>
              <a:t>✔  Tombol verifikasi berhasil menampilkan status aktif mahasiswa saat disentuh.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216" y="5248656"/>
            <a:ext cx="46634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5212080"/>
            <a:ext cx="4663440" cy="50292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25780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MASTER SOLUSI LAB QUEST (slide_17_lab_quest_01_profil_mahasiswa.html)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PREVIEW SESI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Menatap Sesi 02: Beralih ke Reaktivitas Modern Vue.js 3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Hari ini: Mengubah teks antarmuka dengan cara kuno (document.getElementById).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Kelemahan cara kuno: Melelahkan dan rawan salah ketik ID jika aplikasi bertambah besar.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Pekan depan: Mempelajari sistem reaktivitas modern Vue 3 (ref dan reactive).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Keajaiban Vue: Data di variabel berubah, layar antarmuka otomatis terupdate!</a:t>
            </a:r>
          </a:p>
          <a:p>
            <a:pPr>
              <a:spcAft>
                <a:spcPts val="500"/>
              </a:spcAft>
              <a:defRPr sz="1050">
                <a:solidFill>
                  <a:srgbClr val="141414"/>
                </a:solidFill>
                <a:latin typeface="Segoe UI"/>
              </a:defRPr>
            </a:pPr>
            <a:r>
              <a:t>■  Sampai jumpa di Sesi 02: Menguasai Reaktivitas Frontend Modern!</a:t>
            </a:r>
          </a:p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💡 Tips Praktis: Pelajari Modul 2 BMP STSI4303 sebelum menghadiri pertemuan Sesi 02 pekan depan.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slide_18_preview_sesi_02_vue.html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Perbandingan Paradigma Kuno vs Reaktif Modern:</a:t>
            </a:r>
            <a:br/>
            <a:r>
              <a:t>// Cara Kuno (Imperatif):</a:t>
            </a:r>
            <a:br/>
            <a:r>
              <a:t>const el = document.getElementById('status');</a:t>
            </a:r>
            <a:br/>
            <a:r>
              <a:t>el.innerText = 'Nilai Baru'; // Rawan typo ID!</a:t>
            </a:r>
            <a:br/>
            <a:br/>
            <a:r>
              <a:t>// Cara Modern Vue 3 (Reaktif Deklaratif):</a:t>
            </a:r>
            <a:br/>
            <a:r>
              <a:t>const status = ref('Nilai Baru');</a:t>
            </a:r>
            <a:br/>
            <a:r>
              <a:t>// Di template HTML cukup tulis: {{ status }}</a:t>
            </a:r>
            <a:br/>
            <a:r>
              <a:t>// Nilai di layar berubah otomatis seketika data diganti!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(slide_18_preview_sesi_02_vue.html)</a:t>
            </a:r>
          </a:p>
          <a:p>
            <a:pPr>
              <a:defRPr sz="750">
                <a:solidFill>
                  <a:srgbClr val="3C3C3C"/>
                </a:solidFill>
                <a:latin typeface="Segoe UI"/>
              </a:defRPr>
            </a:pPr>
            <a:r>
              <a:t>💡 Klik untuk buka di browser / salin source code langsung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