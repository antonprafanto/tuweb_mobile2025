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7_api_storage_plugins/slide_02_konsep_rest_api_asinkron.htm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7_api_storage_plugins/slide_03_fetch_api_dan_async_await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7_api_storage_plugins/slide_04_indikator_pemuatan_loading.ht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7_api_storage_plugins/slide_05_integrasi_live_api_cuaca.htm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7_api_storage_plugins/slide_06_komparasi_opsi_penyimpanan_mobile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7_api_storage_plugins/slide_07_capacitor_preferences_kv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7_api_storage_plugins/slide_08_serialisasi_objek_json_storage.ht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7_api_storage_plugins/slide_09_arsitektur_offline_first_caching.htm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7_api_storage_plugins/slide_10_plugin_geolocation_koordinat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7_api_storage_plugins/slide_11_geofencing_validasi_lokasi_ut.htm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7_api_storage_plugins/slide_12_plugin_camera_capture_photo.htm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7_api_storage_plugins/slide_13_plugin_network_status_detection.htm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7_api_storage_plugins/slide_14_clean_architecture_service_pattern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7_api_storage_plugins/slide_15_keamanan_token_jwt_dan_interceptor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7_api_storage_plugins/slide_16_rubrik_tugas_tutorial_3.md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7_api_storage_plugins/slide_17_solusi_tugas_3_study_tracker.htm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7_api_storage_plugins/slide_18_preview_sesi_08_build_apk_uas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896112"/>
            <a:ext cx="10545775" cy="5212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822960"/>
            <a:ext cx="10545775" cy="52120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✦ STSI4303 • PEMROGRAMAN BERBASIS PERANGKAT BERGERAK • SESI 07 ✦</a:t>
            </a:r>
          </a:p>
          <a:p>
            <a:pPr>
              <a:spcAft>
                <a:spcPts val="1400"/>
              </a:spcAft>
              <a:defRPr sz="2600" b="1">
                <a:solidFill>
                  <a:srgbClr val="000000"/>
                </a:solidFill>
                <a:latin typeface="Segoe UI"/>
              </a:defRPr>
            </a:pPr>
            <a:r>
              <a:t>REST API, OFFLINE STORAGE, PLUGINS &amp; TUGAS TUTORIAL 3</a:t>
            </a:r>
          </a:p>
          <a:p>
            <a:pPr>
              <a:spcAft>
                <a:spcPts val="3600"/>
              </a:spcAft>
              <a:defRPr sz="1350">
                <a:solidFill>
                  <a:srgbClr val="3C3C3C"/>
                </a:solidFill>
                <a:latin typeface="Segoe UI"/>
              </a:defRPr>
            </a:pPr>
            <a:r>
              <a:t>Mata Kuliah: Pemrograman Berbasis Perangkat Bergerak (STSI4303 / MSIM4401)</a:t>
            </a:r>
            <a:br/>
            <a:r>
              <a:t>Modul Acuan BMP: Modul 8 &amp; 9 • Asynchronous Fetch, Storage Persistence, Geolocation GPS &amp; Evaluasi TUGAS 3 (20%)</a:t>
            </a:r>
          </a:p>
          <a:p>
            <a:pPr>
              <a:defRPr sz="1150" b="1">
                <a:solidFill>
                  <a:srgbClr val="000000"/>
                </a:solidFill>
                <a:latin typeface="Segoe UI"/>
              </a:defRPr>
            </a:pPr>
            <a:r>
              <a:t>■  Anton Prafanto, S.Kom., M.T.  ■  FAKULTAS SAINS DAN TEKNOLOGI • UNIVERSITAS TERBUKA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406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02 • ARSITEKTUR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Konsep REST API: 4 Kata Kerja HTTP, Format JSON &amp; Status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GET (READ)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Mengambil Data Server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Meminta daftar data jadwal kuliah atau cuaca tanpa mengubah state server. Query string via URL.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POST (CREATE)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Mengirim Data Baru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Mengirim payload data presensi atau catatan belajar baru di dalam HTTP Request Body berformat JSON.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STATUS 2XX / 4XX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Kode Status Standar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200 OK &amp; 201 Created (Sukses). 400 Bad Request, 401 Unauthorized (Token hilang), dan 404 Not Found.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1247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8095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FORMAT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0975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Standar Pertukaran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Struktur teks ringan universal berbasis Key-Value yang dipahami secara native oleh JavaScript engine.</a:t>
            </a:r>
          </a:p>
        </p:txBody>
      </p:sp>
      <p:sp>
        <p:nvSpPr>
          <p:cNvPr id="27" name="Rectangle 26">
            <a:hlinkClick r:id="rId2"/>
          </p:cNvPr>
          <p:cNvSpPr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(slide_02_konsep_rest_api_asinkron.html)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520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03 • ASYNCHRONOUS 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Pemanggilan Data Asinkron: fetch() &amp; async/await Tiga Lapis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Non-Blocking I/O: Menjaga UI thread 60 FPS saat menunggu balasan server.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Wajib Cek response.ok: fetch() tidak me-reject Promise saat error 404/500!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Parsing JSON Asinkron: await res.json() mem-parsing teks menjadi objek.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Blok catch: Menangkap galat fisik kabel/sinyal terputus atau timeout.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Blok finally: Menjamin spinner pemuatan data pasti berhenti berputar.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Gunakan selalu blok finally untuk mematikan isLoading agar spinner tidak berputar abadi saat error terjadi!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slide_03_fetch_api_dan_async_await.html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fetchJadwal = async ()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isLoading.value = true;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try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const res = await fetch('https://api.ut.ac.id/v1/jadwal');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if (!res.ok) throw new Error(`HTTP Error: ${res.status}`);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dataJadwal.value = await res.json();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} catch (err)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errorMessage.value = err.message;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} finally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isLoading.value = false; // Pasti dieksekusi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(slide_03_fetch_api_dan_async_await.html)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520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04 • USER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Mengelola UX Asinkron: Spinner &amp; ion-skeleton-text Shimmer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Bahaya Layar Putih: Pengguna mengira aplikasi hang dan melakukan double click.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&lt;ion-spinner&gt;: Indikator putar visual untuk interaksi singkat (di bawah 1 detik).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&lt;ion-skeleton-text animated&gt;: Kerangka abu-abu berdenyut menyerupai layout asli.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Riset Kognitif: Persepsi waktu tunggu terasa 50% lebih cepat dengan skeleton shimmer.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Transisi Mulus: Mengganti elemen skeleton dengan konten asli secara otomatis.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Gunakan skeleton placeholder untuk halaman daftar modul atau profil mahasiswa UT agar terasa profesional.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slide_04_indikator_pemuatan_loading.html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Kerangka Shimmer saat loading = true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&lt;ion-card v-if="loading"&gt;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&lt;ion-card-header&gt;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&lt;ion-skeleton-text animated style="width: 60%; height: 20px;"&gt;&lt;/ion-skeleton-text&gt;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&lt;ion-skeleton-text animated style="width: 40%; height: 14px;"&gt;&lt;/ion-skeleton-text&gt;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&lt;/ion-card-header&gt;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&lt;/ion-card&gt;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Kartu Konten Nyata setelah loading = false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&lt;ion-card v-else&gt;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&lt;ion-card-header&gt;{{ data.judul }}&lt;/ion-card-header&gt;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&lt;/ion-card&gt;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(slide_04_indikator_pemuatan_loading.html)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8633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863339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8633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05 • PRAKTIKUM LIVE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Integrasi Data Publik: Cuaca Sentra Kampus UT via Open-Meteo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100% Bebas API Key: Mahasiswa dapat langsung mengonsumsi tanpa registrasi rumit.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Data Real-Time: Suhu (°C), kecepatan angin, arah mata angin, dan kode cuaca.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Cakupan Seluruh Wilayah: Mendukung koordinat seluruh UPBJJ-UT di Indonesia.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Zero-Friction: Berfungsi langsung di Google Chrome tanpa proxy server.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Memenuhi Kriteria 1 (Bobot 30 Poin) Tugas Tutorial 3 secara elegan!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Gunakan API ini di Tugas Tutorial 3 Anda untuk menampilkan widget info cuaca di lokasi belajar mandiri.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slide_05_integrasi_live_api_cuaca.html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Mengambil Cuaca Kampus UT Pusat (Pondok Cabe)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lat = -6.3050;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lon = 106.7558;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url = `https://api.open-meteo.com/v1/forecast?latitude=${lat}&amp;longitude=${lon}&amp;current_weather=true`;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res = await fetch(url);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json = await res.json();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console.log('Suhu:', json.current_weather.temperature);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console.log('Angin:', json.current_weather.windspeed);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(slide_05_integrasi_live_api_cuaca.html)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520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06 • PILIHAN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Spektrum Media Penyimpanan Mobile: Dari RAM Hingga SQLite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1. LOCALSTORAGE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Web Key-Value (~5MB)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Penyimpanan string sederhana bawaan browser. Sangat cocok untuk tema gelap dan token sesi.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2. PREFERENCES 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Capacitor Preferences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Standar resmi Ionic! Bekerja asinkron memetakan ke SharedPreferences Android &amp; UserDefaults iOS.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3. INDEXEDDB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NoSQL Object Store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Kapasitas ratusan MB, mendukung transaksi asinkron dan indeks pencarian untuk aplikasi offline besar.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1247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8095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4. SQLITE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0975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Database Relasional SQL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Penyimpanan tabel relasional murni (JOIN, FOREIGN KEY) via libsqlite3.so di level native Android.</a:t>
            </a:r>
          </a:p>
        </p:txBody>
      </p:sp>
      <p:sp>
        <p:nvSpPr>
          <p:cNvPr id="27" name="Rectangle 26">
            <a:hlinkClick r:id="rId2"/>
          </p:cNvPr>
          <p:cNvSpPr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(slide_06_komparasi_opsi_penyimpanan_mobile.html)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8633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863339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8633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07 • PREFERENCES PLUGIN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Operasi Key-Value Asinkron dengan @capacitor/preferences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Preferences.set({ key, value }): Menyimpan atau memperbarui data teks.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Preferences.get({ key }): Mengambil data; mengembalikan null jika kunci tidak ada.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Preferences.remove({ key }): Menghapus kunci spesifik dari storage ponsel.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Preferences.clear(): Membersihkan seluruh data yang tersimpan.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Penyimpanan Fisik: Data aman tersimpan di direktori sandbox aplikasi Android.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Data SharedPreferences tidak akan hilang meskipun smartphone dimatikan atau aplikasi di-restart!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slide_07_capacitor_preferences_kv.html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import { Preferences } from '@capacitor/preferences';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1. Simpan Data Mahasiswa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await Preferences.set({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key: 'USER_NIM',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value: '041234567'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2. Baca Kembali secara Asinkron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{ value } = await Preferences.get({ key: 'USER_NIM' });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console.log('NIM Tersimpan:', value); // '041234567'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(slide_07_capacitor_preferences_kv.html)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634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08 • SERIALISASI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Serialisasi Array Objek: JSON.stringify() &amp; JSON.parse()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Penyimpanan Key-Value hanya menerima tipe data teks primitif (String).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Menyimpan objek secara mentah menghasilkan teks rusak '[object Object]'.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Menyimpan (Serialisasi): Ubah array objek menjadi JSON String via JSON.stringify().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Membaca (Deserialisasi): Pulihkan teks JSON menjadi array objek via JSON.parse().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Defensive Coding: Bungkus JSON.parse() dalam try-catch dengan fallback array kosong [].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Gunakan pola ini untuk menyimpan riwayat jam belajar di Tugas Tutorial 3 agar tidak hilang saat aplikasi ditutup.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slide_08_serialisasi_objek_json_storage.html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1. Menyimpan Koleksi Riwayat Sesi Belajar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list = [{ id: 1, matkul: 'Mobile', durasi: 2 }];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localStorage.setItem('SESSIONS', JSON.stringify(list));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2. Membaca Kembali secara Aman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raw = localStorage.getItem('SESSIONS');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let sessions = [];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try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sessions = raw ? JSON.parse(raw) : [];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 catch (e)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sessions = [];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(slide_08_serialisasi_objek_json_storage.html)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7490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749039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09 • KETAHANAN OFFLINE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Arsitektur Offline-First: Strategi Network-First vs Cache-First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4297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4297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NETWORK-FIRST (PRIORITAS FRESH)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Aplikasi mencoba menghubungi server API cloud terlebih dahulu.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Jika berhasil, update cache lokal dan render data teranyar.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Jika gagal (offline), ambil cadangan data dari penyimpanan lokal.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Sangat cocok untuk data dinamis: nilai ujian, pengumuman terbaru.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Tampilkan banner peringatan 'Mode Offline' saat fallback aktif.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4297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4297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CACHE-FIRST (PRIORITAS CEPAT)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Aplikasi langsung menampilkan data dari penyimpanan lokal seketika (0 ms).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Jalankan request jaringan di latar belakang (Stale-While-Revalidate).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Jika server membalas data baru, perbarui tampilan secara halus.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Sangat cocok untuk katalog mata kuliah BMP dan profil mahasiswa.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Bebas dari loading spinner yang mengganggu pengguna.</a:t>
            </a:r>
          </a:p>
        </p:txBody>
      </p:sp>
      <p:sp>
        <p:nvSpPr>
          <p:cNvPr id="17" name="Rectangle 16">
            <a:hlinkClick r:id="rId2"/>
          </p:cNvPr>
          <p:cNvSpPr/>
          <p:nvPr/>
        </p:nvSpPr>
        <p:spPr>
          <a:xfrm>
            <a:off x="822960" y="603504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03504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(slide_09_arsitektur_offline_first_caching.html)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9489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9489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9489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10 • SENSOR GPS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Integrasi Sensor Lokasi dengan @capacitor/geolocation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Akses Sinyal Satelit GPS: Mendapatkan titik koordinat lintang &amp; bujur secara presisi.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Parameter enableHighAccuracy: Mengaktifkan antena GPS hardware ponsel.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Data Hasil: latitude, longitude, accuracy (meter), dan timestamp.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Pola Izin: Meminta izin ACCESS_FINE_LOCATION secara dinamis di runtime.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Integrasi Langsung: Membuka koordinat di peta Google Maps.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Fitur GPS ini memenuhi Kriteria 3 Tugas Tutorial 3 untuk mencatat lokasi belajar mandiri mahasiswa.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slide_10_plugin_geolocation_koordinat.html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import { Geolocation } from '@capacitor/geolocation';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kunciLokasiBelajar = async ()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const pos = await Geolocation.getCurrentPosition({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enableHighAccuracy: true,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timeout: 10000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});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const lat = pos.coords.latitude;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const lon = pos.coords.longitude;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console.log(`Koordinat Mahasiswa: ${lat}, ${lon}`);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(slide_10_plugin_geolocation_koordinat.html)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634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11 • VALIDASI SPASIAL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Validasi Presensi Geofencing via Formula Matematika Haversine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Mencegah Kecurangan: Memvalidasi apakah mahasiswa benar-benar ada di ruang kuliah/ujian.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Bumi Melengkung: Jarak GPS tidak dapat dihitung dengan rumus Pythagoras biasa!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Formula Haversine: Menghitung jarak busur lingkaran besar pada permukaan bola bumi.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Radius Toleransi: Jarak ≤ 200 meter dinyatakan SAH, &gt; 200 meter DITOLAK.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Logika matematis murni yang sangat diapresiasi dalam penilaian akademik.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Gunakan rumus ini untuk memverifikasi apakah mahasiswa berada dalam radius kampus UT atau sedang di rumah.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slide_11_geofencing_validasi_lokasi_ut.html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function hitungJarakHaversine(lat1, lon1, lat2, lon2)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const R = 6371000; // Jari-jari bumi dalam meter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const dLat = (lat2 - lat1) * Math.PI / 180;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const dLon = (lon2 - lon1) * Math.PI / 180;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const a = Math.sin(dLat/2)**2 +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    Math.cos(lat1 * Math.PI/180) * 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    Math.cos(lat2 * Math.PI/180) * 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    Math.sin(dLon/2)**2;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return R * 2 * Math.atan2(Math.sqrt(a), Math.sqrt(1-a));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(slide_11_geofencing_validasi_lokasi_ut.html)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291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12 • SENSOR KAMERA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Integrasi Kamera Smartphone dengan @capacitor/camera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Menangkap Bukti Fisik: Foto modul BMP atau bukti kehadiran belajar mandiri.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CameraResultType.DataUrl: Format Base64 teks yang langsung dapat disimpan di storage.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CameraResultType.Uri: Path file lokal hemat memori untuk rendering cepat di UI.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Kontrol Kualitas: Parameter quality: 85 untuk mengompresi ukuran foto agar ringan.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Fallback Peramban: Menggunakan pemilih berkas input file HTML di Chrome desktop.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Gunakan CameraResultType.DataUrl agar foto dapat langsung disimpan bersama catatan belajar di LocalStorage.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slide_12_plugin_camera_capture_photo.html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import { Camera, CameraResultType, CameraSource } from '@capacitor/camera';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ambilFotoBukti = async ()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const photo = await Camera.getPhoto({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quality: 85,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allowEditing: false,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resultType: CameraResultType.DataUrl, // Format teks base64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source: CameraSource.Camera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});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// Tampilkan langsung di antarmuka Vue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fotoBuktiUrl.value = photo.dataUrl;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(slide_12_plugin_camera_capture_photo.html)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634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13 • DETEKSI JARINGAN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Monitoring Status Koneksi Real-Time via @capacitor/network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Peka Status Koneksi: Mengetahui secara instan saat ponsel online atau offline.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Network.getStatus(): Mengembalikan connected (boolean) &amp; connectionType (wifi/cellular).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Listener Otomatis: Network.addListener('networkStatusChange', callback).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Pola Offline Sync Queue: Menyimpan catatan di antrian saat offline.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Auto-Upload: Mengunggah otomatis seluruh antrian saat sinyal internet kembali tersambung.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Pasang listener ini di onMounted() agar antarmuka aplikasi selalu menampilkan status sinyal yang akurat.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slide_13_plugin_network_status_detection.html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import { Network } from '@capacitor/network';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Pantau Transisi Online/Offline secara Real-Time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Network.addListener('networkStatusChange', status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isOnline.value = status.connected;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if (status.connected)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console.log('Sinyal pulih! Mengunggah antrian offline...');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sinkronisasiDataKeServer();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(slide_13_plugin_network_status_detection.html)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8633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863339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8633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14 • POLA DESAIN BERSIH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Clean Architecture: Memisahkan Logika Bisnis ke Service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PRESENTATION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Komponen Vue (.vue)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Fokus murni pada rendering template antarmuka, tata letak Ionic, dan interaksi sentuhan tombol.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SERVICE LAYER 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studyTrackerService.ts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Pusat aturan bisnis! Berisi getAll(), create(), delete(), dan kalkulasi total jam belajar.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STORAGE ADAPTER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Preferences / Storage Driver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Mengurus serialisasi JSON.stringify dan penulisan fisik ke penyimpanan perangkat Android.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1247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8095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KEUNTUNGAN BERSIH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0975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Bebas Kode Spaghetti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Memudahkan pengujian unit testing dan jika endpoint API kampus berubah, cukup edit satu berkas saja!</a:t>
            </a:r>
          </a:p>
        </p:txBody>
      </p:sp>
      <p:sp>
        <p:nvSpPr>
          <p:cNvPr id="27" name="Rectangle 26">
            <a:hlinkClick r:id="rId2"/>
          </p:cNvPr>
          <p:cNvSpPr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(slide_14_clean_architecture_service_pattern.html)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7490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749039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15 • KEAMANAN 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Keamanan Transaksi API: Manajemen Token Akses JWT &amp; Header Bearer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JSON Web Token (JWT): Tiket identitas digital terenkripsi dari server kampus UT.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Struktur 3 Bagian: Header (Algoritma), Payload (Data User), Signature (Tanda Tangan).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Penyuntikan Header: Mengirimkan Authorization: Bearer &lt;TOKEN&gt; pada setiap request.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Waspada: Payload JWT BUKANLAH data terenkripsi rahasia! Jangan simpan password di dalamnya.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Penanganan 401 Unauthorized: Alihkan pengguna kembali ke form login jika token kedaluwarsa.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Simpan token JWT di Capacitor Preferences yang terlindungi dalam sandbox direktori Android.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slide_15_keamanan_token_jwt_dan_interceptor.html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Menyuntikkan Token Akses JWT ke Header HTTP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token = localStorage.getItem('AUTH_TOKEN');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res = await fetch('https://api.ut.ac.id/v1/presensi/private',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method: 'POST',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headers: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'Content-Type': 'application/json',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'Authorization': `Bearer ${token}` // Bearer Authentication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},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body: JSON.stringify(dataPresensi)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if (res.status === 401)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// Token kadaluwarsa -&gt; Alihkan ke Login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(slide_15_keamanan_token_jwt_dan_interceptor.html)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520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16 • TAGIHAN TUGAS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Pedoman &amp; Rubrik Penilaian Resmi TUGAS TUTORIAL 3 (Skor 0–100)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30 POIN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1. REST API Asinkron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Pengambilan data eksternal via fetch() / axios secara async/await dilengkapi indikator pemuatan loading.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25 POIN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2. Storage Persisten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Mekanisme simpan, baca, dan hapus riwayat sesi belajar ke storage lokal (tidak hilang saat direfresh).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25 POIN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3. Hardware Plugins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Berhasil menghubungkan sensor Geolocation GPS (koordinat lintang/bujur) atau Camera bukti belajar.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1247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8095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20 POIN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0975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4. Clean Code &amp; Video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Arsitektur kode rapi, try-catch error handling, laporan PDF dan video rekaman YouTube (Unlisted) 3-5 menit.</a:t>
            </a:r>
          </a:p>
        </p:txBody>
      </p:sp>
      <p:sp>
        <p:nvSpPr>
          <p:cNvPr id="27" name="Rectangle 26">
            <a:hlinkClick r:id="rId2"/>
          </p:cNvPr>
          <p:cNvSpPr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(slide_16_rubrik_tugas_tutorial_3.md)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9776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977639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977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17 • MASTER SOLUSI (100)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Master Solusi Tugas Tutorial 3: UT Study Tracker &amp; Presensi Mobile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Kriteria 1 (30 Poin): Live REST API cuaca kampus Open-Meteo asinkron.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Kriteria 2 (25 Poin): Penyimpanan riwayat belajar offline persisten (CRUD).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Kriteria 3 (25 Poin): Penguncian sensor GPS koordinat &amp; unggah foto bukti belajar.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Kriteria 4 (20 Poin): Dashboard kalkulasi total jam belajar &amp; penanganan error.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Tolok ukur rujukan resmi mahasiswa UT untuk meraih nilai sempurna 100!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Buka berkas HTML ini langsung di Google Chrome untuk menguji seluruh fitur Tugas 3 tanpa instalasi apapun!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slide_17_solusi_tugas_3_study_tracker.html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Cuplikan Master Solusi UT Study Tracker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simpanSesi = ()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sessions.value.unshift({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id: Date.now(),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matkul: form.matkul,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durasi: form.durasi,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catatan: form.catatan,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lokasi: form.lokasi,   // Sensor Geolocation GPS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fotoUrl: form.fotoUrl, // Sensor Kamera Bukti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tanggal: new Date().toLocaleDateString('id-ID')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});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localStorage.setItem('UT_DATA', JSON.stringify(sessions.value));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(slide_17_solusi_tugas_3_study_tracker.html)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406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18 • MENUJU SESI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Jembatan Sesi 08: Rilis APK Stand-alone &amp; Sukses Ujian Akhir (UAS)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PILAR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Digital Keystore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Membuat sertifikat kunci kriptografi mandiri menggunakan keytool untuk menandatangani paket APK rilis.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PILAR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Build APK Release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Kompilasi installer APK mandiri bebas kabel USB yang dapat dipasang di smartphone siapa pun lewat WhatsApp.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PILAR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Optimasi Ukuran File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Minifikasi kode dengan ProGuard/R8, pemangkasan resource aset, dan optimasi zipalign kecepatan loading.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1247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8095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KISI-KISI UAS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0975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50 Bank Soal Komprehensif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Bedah tuntas 50 soal latihan pilihan ganda dan analisis kasus Modul 1-9 untuk mengunci nilai A UAS!</a:t>
            </a:r>
          </a:p>
        </p:txBody>
      </p:sp>
      <p:sp>
        <p:nvSpPr>
          <p:cNvPr id="27" name="Rectangle 26">
            <a:hlinkClick r:id="rId2"/>
          </p:cNvPr>
          <p:cNvSpPr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(slide_18_preview_sesi_08_build_apk_uas.html)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